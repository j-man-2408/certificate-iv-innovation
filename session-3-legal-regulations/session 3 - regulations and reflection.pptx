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sldIdLst>
    <p:sldId id="257" r:id="rId5"/>
    <p:sldId id="350" r:id="rId6"/>
    <p:sldId id="354" r:id="rId7"/>
    <p:sldId id="373" r:id="rId8"/>
    <p:sldId id="355" r:id="rId9"/>
    <p:sldId id="356" r:id="rId10"/>
    <p:sldId id="357" r:id="rId11"/>
    <p:sldId id="360" r:id="rId12"/>
    <p:sldId id="365" r:id="rId13"/>
    <p:sldId id="358" r:id="rId14"/>
    <p:sldId id="359" r:id="rId15"/>
    <p:sldId id="366" r:id="rId16"/>
    <p:sldId id="367" r:id="rId17"/>
    <p:sldId id="361" r:id="rId18"/>
    <p:sldId id="362" r:id="rId19"/>
    <p:sldId id="368" r:id="rId20"/>
    <p:sldId id="369" r:id="rId21"/>
    <p:sldId id="363" r:id="rId22"/>
    <p:sldId id="364" r:id="rId23"/>
    <p:sldId id="371" r:id="rId24"/>
    <p:sldId id="372" r:id="rId25"/>
    <p:sldId id="374" r:id="rId26"/>
    <p:sldId id="375" r:id="rId27"/>
    <p:sldId id="376" r:id="rId28"/>
    <p:sldId id="377" r:id="rId29"/>
    <p:sldId id="379" r:id="rId30"/>
    <p:sldId id="380" r:id="rId31"/>
    <p:sldId id="381" r:id="rId32"/>
    <p:sldId id="382" r:id="rId33"/>
    <p:sldId id="383" r:id="rId34"/>
    <p:sldId id="384" r:id="rId35"/>
    <p:sldId id="385" r:id="rId36"/>
    <p:sldId id="387" r:id="rId37"/>
    <p:sldId id="388" r:id="rId38"/>
    <p:sldId id="389" r:id="rId39"/>
    <p:sldId id="391" r:id="rId40"/>
    <p:sldId id="390" r:id="rId41"/>
  </p:sldIdLst>
  <p:sldSz cx="12192000" cy="6858000"/>
  <p:notesSz cx="7104063" cy="10234613"/>
  <p:custDataLst>
    <p:tags r:id="rId4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CB743C-D873-4233-9D28-B8C4BDC855B1}">
          <p14:sldIdLst>
            <p14:sldId id="257"/>
            <p14:sldId id="350"/>
          </p14:sldIdLst>
        </p14:section>
        <p14:section name="Session Overview" id="{A4C4AF5C-441C-4785-B207-3A67FABB8DD3}">
          <p14:sldIdLst>
            <p14:sldId id="354"/>
            <p14:sldId id="373"/>
            <p14:sldId id="355"/>
            <p14:sldId id="356"/>
            <p14:sldId id="357"/>
            <p14:sldId id="360"/>
            <p14:sldId id="365"/>
            <p14:sldId id="358"/>
            <p14:sldId id="359"/>
            <p14:sldId id="366"/>
            <p14:sldId id="367"/>
            <p14:sldId id="361"/>
            <p14:sldId id="362"/>
            <p14:sldId id="368"/>
            <p14:sldId id="369"/>
            <p14:sldId id="363"/>
            <p14:sldId id="364"/>
            <p14:sldId id="371"/>
            <p14:sldId id="372"/>
          </p14:sldIdLst>
        </p14:section>
        <p14:section name="Company Policies" id="{2DC447F6-EF81-FE4A-B9DD-5D7720537498}">
          <p14:sldIdLst>
            <p14:sldId id="374"/>
            <p14:sldId id="375"/>
            <p14:sldId id="376"/>
            <p14:sldId id="377"/>
            <p14:sldId id="379"/>
            <p14:sldId id="380"/>
            <p14:sldId id="381"/>
            <p14:sldId id="382"/>
            <p14:sldId id="383"/>
            <p14:sldId id="384"/>
            <p14:sldId id="385"/>
            <p14:sldId id="387"/>
            <p14:sldId id="388"/>
            <p14:sldId id="389"/>
            <p14:sldId id="391"/>
            <p14:sldId id="390"/>
          </p14:sldIdLst>
        </p14:section>
        <p14:section name="Tools" id="{30377F5A-1EAE-884E-86D8-CE39FDC05BD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81C24"/>
    <a:srgbClr val="D8262E"/>
    <a:srgbClr val="D9272E"/>
    <a:srgbClr val="D22F27"/>
    <a:srgbClr val="9BBB59"/>
    <a:srgbClr val="CC0000"/>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91"/>
    <p:restoredTop sz="94754"/>
  </p:normalViewPr>
  <p:slideViewPr>
    <p:cSldViewPr snapToGrid="0">
      <p:cViewPr varScale="1">
        <p:scale>
          <a:sx n="127" d="100"/>
          <a:sy n="127" d="100"/>
        </p:scale>
        <p:origin x="632" y="19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7/29/24</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dirty="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a:t>Session/Presentation Title</a:t>
            </a:r>
          </a:p>
        </p:txBody>
      </p:sp>
      <p:sp>
        <p:nvSpPr>
          <p:cNvPr id="10" name="Table Placeholder 9"/>
          <p:cNvSpPr>
            <a:spLocks noGrp="1"/>
          </p:cNvSpPr>
          <p:nvPr>
            <p:ph type="tbl" sz="quarter" idx="13" hasCustomPrompt="1"/>
          </p:nvPr>
        </p:nvSpPr>
        <p:spPr>
          <a:xfrm>
            <a:off x="1051131" y="4572000"/>
            <a:ext cx="10084039" cy="1610037"/>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a:t>Week/Session 00</a:t>
            </a:r>
          </a:p>
        </p:txBody>
      </p:sp>
      <p:sp>
        <p:nvSpPr>
          <p:cNvPr id="8" name="Text Placeholder 7"/>
          <p:cNvSpPr>
            <a:spLocks noGrp="1"/>
          </p:cNvSpPr>
          <p:nvPr>
            <p:ph type="body" sz="quarter" idx="15" hasCustomPrompt="1"/>
          </p:nvPr>
        </p:nvSpPr>
        <p:spPr>
          <a:xfrm>
            <a:off x="1051130" y="4119576"/>
            <a:ext cx="10084038" cy="360698"/>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a:t>Cluster Name</a:t>
            </a:r>
            <a:endParaRPr lang="en-AU"/>
          </a:p>
        </p:txBody>
      </p:sp>
      <p:sp>
        <p:nvSpPr>
          <p:cNvPr id="9" name="TextBox 8"/>
          <p:cNvSpPr txBox="1"/>
          <p:nvPr userDrawn="1"/>
        </p:nvSpPr>
        <p:spPr>
          <a:xfrm>
            <a:off x="1051132" y="2852738"/>
            <a:ext cx="1939896"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64753"/>
            <a:ext cx="10363200" cy="1560862"/>
          </a:xfrm>
          <a:prstGeom prst="rect">
            <a:avLst/>
          </a:prstGeom>
        </p:spPr>
        <p:txBody>
          <a:bodyPr/>
          <a:lstStyle>
            <a:lvl1pPr>
              <a:defRPr>
                <a:latin typeface="+mj-lt"/>
              </a:defRPr>
            </a:lvl1pPr>
          </a:lstStyle>
          <a:p>
            <a:r>
              <a:rPr lang="en-US" noProof="0"/>
              <a:t>Click to edit Master title style</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10" name="Table Placeholder 9"/>
          <p:cNvSpPr>
            <a:spLocks noGrp="1"/>
          </p:cNvSpPr>
          <p:nvPr>
            <p:ph type="tbl" sz="quarter" idx="13" hasCustomPrompt="1"/>
          </p:nvPr>
        </p:nvSpPr>
        <p:spPr>
          <a:xfrm>
            <a:off x="911468" y="4870093"/>
            <a:ext cx="10363200" cy="1241057"/>
          </a:xfrm>
        </p:spPr>
        <p:txBody>
          <a:bodyPr>
            <a:normAutofit/>
          </a:bodyPr>
          <a:lstStyle>
            <a:lvl1pPr marL="0" indent="0">
              <a:buNone/>
              <a:defRPr sz="20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917332" y="4229096"/>
            <a:ext cx="10366132" cy="528637"/>
          </a:xfrm>
        </p:spPr>
        <p:txBody>
          <a:bodyPr>
            <a:normAutofit/>
          </a:bodyPr>
          <a:lstStyle>
            <a:lvl1pPr marL="0" indent="0" algn="l">
              <a:buNone/>
              <a:defRPr sz="2400" b="1" baseline="0">
                <a:solidFill>
                  <a:schemeClr val="accent2"/>
                </a:solidFill>
                <a:latin typeface="+mj-lt"/>
              </a:defRPr>
            </a:lvl1pPr>
          </a:lstStyle>
          <a:p>
            <a:pPr lvl="0"/>
            <a:r>
              <a:rPr lang="en-AU"/>
              <a:t>Week/Session 00</a:t>
            </a:r>
          </a:p>
        </p:txBody>
      </p:sp>
      <p:sp>
        <p:nvSpPr>
          <p:cNvPr id="9" name="Text Placeholder 8"/>
          <p:cNvSpPr>
            <a:spLocks noGrp="1"/>
          </p:cNvSpPr>
          <p:nvPr>
            <p:ph type="body" sz="quarter" idx="15" hasCustomPrompt="1"/>
          </p:nvPr>
        </p:nvSpPr>
        <p:spPr>
          <a:xfrm>
            <a:off x="914400" y="2918188"/>
            <a:ext cx="10360268" cy="598488"/>
          </a:xfrm>
        </p:spPr>
        <p:txBody>
          <a:bodyPr>
            <a:normAutofit/>
          </a:bodyPr>
          <a:lstStyle>
            <a:lvl1pPr marL="0" indent="0">
              <a:buNone/>
              <a:defRPr sz="2800">
                <a:solidFill>
                  <a:schemeClr val="bg1">
                    <a:lumMod val="75000"/>
                  </a:schemeClr>
                </a:solidFill>
                <a:latin typeface="+mj-lt"/>
              </a:defRPr>
            </a:lvl1pPr>
          </a:lstStyle>
          <a:p>
            <a:pPr lvl="0"/>
            <a:r>
              <a:rPr lang="en-AU"/>
              <a:t>Lecture Title</a:t>
            </a:r>
          </a:p>
        </p:txBody>
      </p:sp>
      <p:sp>
        <p:nvSpPr>
          <p:cNvPr id="13" name="Text Placeholder 12"/>
          <p:cNvSpPr>
            <a:spLocks noGrp="1"/>
          </p:cNvSpPr>
          <p:nvPr>
            <p:ph type="body" sz="quarter" idx="16" hasCustomPrompt="1"/>
          </p:nvPr>
        </p:nvSpPr>
        <p:spPr>
          <a:xfrm>
            <a:off x="917332" y="3610147"/>
            <a:ext cx="10366132" cy="506589"/>
          </a:xfrm>
        </p:spPr>
        <p:txBody>
          <a:bodyPr anchor="ctr">
            <a:noAutofit/>
          </a:bodyPr>
          <a:lstStyle>
            <a:lvl1pPr marL="0" indent="0">
              <a:buNone/>
              <a:defRPr sz="2000">
                <a:solidFill>
                  <a:schemeClr val="bg1">
                    <a:lumMod val="75000"/>
                  </a:schemeClr>
                </a:solidFill>
                <a:latin typeface="+mj-lt"/>
              </a:defRPr>
            </a:lvl1pPr>
          </a:lstStyle>
          <a:p>
            <a:r>
              <a:rPr lang="en-AU"/>
              <a:t>Lecturer:	</a:t>
            </a:r>
            <a:r>
              <a:rPr lang="en-AU" err="1"/>
              <a:t>Given_Name</a:t>
            </a:r>
            <a:r>
              <a:rPr lang="en-AU"/>
              <a:t> </a:t>
            </a:r>
            <a:r>
              <a:rPr lang="en-AU" err="1"/>
              <a:t>Family_Name</a:t>
            </a:r>
            <a:endParaRPr lang="en-AU"/>
          </a:p>
        </p:txBody>
      </p:sp>
    </p:spTree>
    <p:extLst>
      <p:ext uri="{BB962C8B-B14F-4D97-AF65-F5344CB8AC3E}">
        <p14:creationId xmlns:p14="http://schemas.microsoft.com/office/powerpoint/2010/main" val="10229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Alternate 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noProof="0"/>
              <a:t>Click to edit Master title style</a:t>
            </a:r>
            <a:endParaRPr lang="en-AU" noProof="0"/>
          </a:p>
        </p:txBody>
      </p:sp>
      <p:sp>
        <p:nvSpPr>
          <p:cNvPr id="3" name="Subtitle 2"/>
          <p:cNvSpPr>
            <a:spLocks noGrp="1"/>
          </p:cNvSpPr>
          <p:nvPr>
            <p:ph type="subTitle" idx="1"/>
          </p:nvPr>
        </p:nvSpPr>
        <p:spPr>
          <a:xfrm>
            <a:off x="914399" y="3886200"/>
            <a:ext cx="10363199" cy="1752600"/>
          </a:xfrm>
        </p:spPr>
        <p:txBody>
          <a:bodyPr>
            <a:normAutofit/>
          </a:bodyPr>
          <a:lstStyle>
            <a:lvl1pPr marL="0" indent="0" algn="l">
              <a:buNone/>
              <a:defRPr sz="2800" baseline="0">
                <a:solidFill>
                  <a:schemeClr val="bg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2307689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AU" noProof="0" smtClean="0"/>
              <a:t>29/7/2024</a:t>
            </a:fld>
            <a:endParaRPr lang="en-AU" noProof="0" dirty="0"/>
          </a:p>
        </p:txBody>
      </p:sp>
      <p:sp>
        <p:nvSpPr>
          <p:cNvPr id="5" name="Footer Placeholder 4"/>
          <p:cNvSpPr>
            <a:spLocks noGrp="1"/>
          </p:cNvSpPr>
          <p:nvPr>
            <p:ph type="ftr" sz="quarter" idx="11"/>
          </p:nvPr>
        </p:nvSpPr>
        <p:spPr/>
        <p:txBody>
          <a:bodyPr/>
          <a:lstStyle/>
          <a:p>
            <a:endParaRPr lang="en-AU" noProof="0" dirty="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dirty="0"/>
          </a:p>
        </p:txBody>
      </p:sp>
    </p:spTree>
    <p:extLst>
      <p:ext uri="{BB962C8B-B14F-4D97-AF65-F5344CB8AC3E}">
        <p14:creationId xmlns:p14="http://schemas.microsoft.com/office/powerpoint/2010/main" val="1471725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7/29/24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7/29/24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6F489C6-6277-454E-AECF-6C3872A9450F}" type="datetimeFigureOut">
              <a:rPr lang="en-US" smtClean="0"/>
              <a:t>7/29/24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6F489C6-6277-454E-AECF-6C3872A9450F}" type="datetimeFigureOut">
              <a:rPr lang="en-US" smtClean="0"/>
              <a:t>7/29/24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918741"/>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1824688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7/29/24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551813" y="973063"/>
            <a:ext cx="3030587" cy="4911873"/>
          </a:xfrm>
          <a:prstGeom prst="roundRect">
            <a:avLst>
              <a:gd name="adj" fmla="val 4419"/>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665787"/>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endParaRPr lang="en-AU"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7/29/24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Vertical Text Placeholder 2"/>
          <p:cNvSpPr>
            <a:spLocks noGrp="1"/>
          </p:cNvSpPr>
          <p:nvPr>
            <p:ph type="body" orient="vert" idx="1"/>
          </p:nvPr>
        </p:nvSpPr>
        <p:spPr/>
        <p:txBody>
          <a:bodyPr vert="eaVert"/>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41387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a:prstGeom prst="rect">
            <a:avLst/>
          </a:prstGeom>
        </p:spPr>
        <p:txBody>
          <a:bodyPr vert="eaVert"/>
          <a:lstStyle/>
          <a:p>
            <a:r>
              <a:rPr lang="en-US" noProof="0"/>
              <a:t>Click to edit Master title style</a:t>
            </a:r>
            <a:endParaRPr lang="en-AU" noProof="0"/>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7/29/24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938698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7/29/24</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a:p>
        </p:txBody>
      </p:sp>
      <p:sp>
        <p:nvSpPr>
          <p:cNvPr id="7" name="TextBox 6">
            <a:extLst>
              <a:ext uri="{FF2B5EF4-FFF2-40B4-BE49-F238E27FC236}">
                <a16:creationId xmlns:a16="http://schemas.microsoft.com/office/drawing/2014/main" id="{BC58E468-EED8-12E7-7970-DF29EEA5C4DF}"/>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66" r:id="rId2"/>
    <p:sldLayoutId id="2147483649" r:id="rId3"/>
    <p:sldLayoutId id="2147483650" r:id="rId4"/>
    <p:sldLayoutId id="2147483665" r:id="rId5"/>
    <p:sldLayoutId id="2147483651" r:id="rId6"/>
    <p:sldLayoutId id="2147483661" r:id="rId7"/>
    <p:sldLayoutId id="2147483652" r:id="rId8"/>
    <p:sldLayoutId id="2147483662" r:id="rId9"/>
    <p:sldLayoutId id="2147483653" r:id="rId10"/>
    <p:sldLayoutId id="2147483654" r:id="rId11"/>
    <p:sldLayoutId id="2147483663" r:id="rId12"/>
    <p:sldLayoutId id="2147483655" r:id="rId13"/>
    <p:sldLayoutId id="2147483664" r:id="rId14"/>
    <p:sldLayoutId id="2147483660" r:id="rId15"/>
    <p:sldLayoutId id="2147483656" r:id="rId16"/>
    <p:sldLayoutId id="2147483657" r:id="rId17"/>
    <p:sldLayoutId id="2147483658" r:id="rId18"/>
    <p:sldLayoutId id="2147483659" r:id="rId19"/>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oaic.gov.au/" TargetMode="External"/><Relationship Id="rId2" Type="http://schemas.openxmlformats.org/officeDocument/2006/relationships/hyperlink" Target="https://www.ag.gov.au/rights-and-protections/privacy" TargetMode="Externa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ag.gov.au/rights-and-protections/copyright/copyright-basics" TargetMode="External"/><Relationship Id="rId2" Type="http://schemas.openxmlformats.org/officeDocument/2006/relationships/hyperlink" Target="https://www.infrastructure.gov.au/media-communications-arts/copyright/copyright-basics" TargetMode="Externa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humanrights.gov.au/our-work/employers/disability-discrimination"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www.cyber.gov.au/acsc/view-all-content/advice/using-information-security-manual" TargetMode="External"/><Relationship Id="rId2" Type="http://schemas.openxmlformats.org/officeDocument/2006/relationships/hyperlink" Target="https://www.cyber.gov.au/" TargetMode="Externa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Innovation Cluster</a:t>
            </a:r>
            <a:br>
              <a:rPr lang="en-US" dirty="0"/>
            </a:br>
            <a:endParaRPr lang="en-AU" dirty="0"/>
          </a:p>
        </p:txBody>
      </p:sp>
      <p:graphicFrame>
        <p:nvGraphicFramePr>
          <p:cNvPr id="4" name="Table 5">
            <a:extLst>
              <a:ext uri="{FF2B5EF4-FFF2-40B4-BE49-F238E27FC236}">
                <a16:creationId xmlns:a16="http://schemas.microsoft.com/office/drawing/2014/main" id="{C8FFDCF9-A3B9-9F48-8F1E-3B7501E36179}"/>
              </a:ext>
            </a:extLst>
          </p:cNvPr>
          <p:cNvGraphicFramePr>
            <a:graphicFrameLocks noGrp="1"/>
          </p:cNvGraphicFramePr>
          <p:nvPr>
            <p:ph type="tbl" sz="quarter" idx="13"/>
            <p:extLst>
              <p:ext uri="{D42A27DB-BD31-4B8C-83A1-F6EECF244321}">
                <p14:modId xmlns:p14="http://schemas.microsoft.com/office/powerpoint/2010/main" val="777795326"/>
              </p:ext>
            </p:extLst>
          </p:nvPr>
        </p:nvGraphicFramePr>
        <p:xfrm>
          <a:off x="920264" y="3644987"/>
          <a:ext cx="10363200" cy="1584960"/>
        </p:xfrm>
        <a:graphic>
          <a:graphicData uri="http://schemas.openxmlformats.org/drawingml/2006/table">
            <a:tbl>
              <a:tblPr firstRow="1" bandRow="1">
                <a:tableStyleId>{37CE84F3-28C3-443E-9E96-99CF82512B78}</a:tableStyleId>
              </a:tblPr>
              <a:tblGrid>
                <a:gridCol w="5181600">
                  <a:extLst>
                    <a:ext uri="{9D8B030D-6E8A-4147-A177-3AD203B41FA5}">
                      <a16:colId xmlns:a16="http://schemas.microsoft.com/office/drawing/2014/main" val="2173448231"/>
                    </a:ext>
                  </a:extLst>
                </a:gridCol>
                <a:gridCol w="5181600">
                  <a:extLst>
                    <a:ext uri="{9D8B030D-6E8A-4147-A177-3AD203B41FA5}">
                      <a16:colId xmlns:a16="http://schemas.microsoft.com/office/drawing/2014/main" val="454561398"/>
                    </a:ext>
                  </a:extLst>
                </a:gridCol>
              </a:tblGrid>
              <a:tr h="324801">
                <a:tc>
                  <a:txBody>
                    <a:bodyPr/>
                    <a:lstStyle/>
                    <a:p>
                      <a:r>
                        <a:rPr lang="en-US" sz="2000" dirty="0"/>
                        <a:t>Course</a:t>
                      </a:r>
                    </a:p>
                  </a:txBody>
                  <a:tcPr/>
                </a:tc>
                <a:tc>
                  <a:txBody>
                    <a:bodyPr/>
                    <a:lstStyle/>
                    <a:p>
                      <a:pPr marL="179388" indent="0"/>
                      <a:endParaRPr lang="en-AU" sz="2000" noProof="0" dirty="0"/>
                    </a:p>
                  </a:txBody>
                  <a:tcPr/>
                </a:tc>
                <a:extLst>
                  <a:ext uri="{0D108BD9-81ED-4DB2-BD59-A6C34878D82A}">
                    <a16:rowId xmlns:a16="http://schemas.microsoft.com/office/drawing/2014/main" val="137133133"/>
                  </a:ext>
                </a:extLst>
              </a:tr>
              <a:tr h="324801">
                <a:tc>
                  <a:txBody>
                    <a:bodyPr/>
                    <a:lstStyle/>
                    <a:p>
                      <a:r>
                        <a:rPr lang="en-US" sz="2000" b="1" dirty="0"/>
                        <a:t>Certificate IV in Information Technology</a:t>
                      </a:r>
                    </a:p>
                  </a:txBody>
                  <a:tcPr/>
                </a:tc>
                <a:tc>
                  <a:txBody>
                    <a:bodyPr/>
                    <a:lstStyle/>
                    <a:p>
                      <a:pPr marL="179388" indent="0" algn="l" defTabSz="457200" rtl="0" eaLnBrk="1" latinLnBrk="0" hangingPunct="1"/>
                      <a:r>
                        <a:rPr lang="en-US" sz="2000" b="0" kern="1200" dirty="0">
                          <a:solidFill>
                            <a:schemeClr val="lt1"/>
                          </a:solidFill>
                          <a:latin typeface="+mn-lt"/>
                          <a:ea typeface="+mn-ea"/>
                          <a:cs typeface="+mn-cs"/>
                        </a:rPr>
                        <a:t>Web</a:t>
                      </a:r>
                    </a:p>
                  </a:txBody>
                  <a:tcPr/>
                </a:tc>
                <a:extLst>
                  <a:ext uri="{0D108BD9-81ED-4DB2-BD59-A6C34878D82A}">
                    <a16:rowId xmlns:a16="http://schemas.microsoft.com/office/drawing/2014/main" val="3133342005"/>
                  </a:ext>
                </a:extLst>
              </a:tr>
              <a:tr h="324801">
                <a:tc>
                  <a:txBody>
                    <a:bodyPr/>
                    <a:lstStyle/>
                    <a:p>
                      <a:r>
                        <a:rPr lang="en-US" sz="2000" b="1" dirty="0"/>
                        <a:t>Certificate IV in Information Technology</a:t>
                      </a:r>
                    </a:p>
                  </a:txBody>
                  <a:tcPr/>
                </a:tc>
                <a:tc>
                  <a:txBody>
                    <a:bodyPr/>
                    <a:lstStyle/>
                    <a:p>
                      <a:pPr marL="179388" indent="0" algn="l" defTabSz="457200" rtl="0" eaLnBrk="1" latinLnBrk="0" hangingPunct="1"/>
                      <a:r>
                        <a:rPr lang="en-US" sz="2000" b="0" kern="1200" dirty="0">
                          <a:solidFill>
                            <a:schemeClr val="lt1"/>
                          </a:solidFill>
                          <a:latin typeface="+mn-lt"/>
                          <a:ea typeface="+mn-ea"/>
                          <a:cs typeface="+mn-cs"/>
                        </a:rPr>
                        <a:t>Programming</a:t>
                      </a:r>
                    </a:p>
                  </a:txBody>
                  <a:tcPr/>
                </a:tc>
                <a:extLst>
                  <a:ext uri="{0D108BD9-81ED-4DB2-BD59-A6C34878D82A}">
                    <a16:rowId xmlns:a16="http://schemas.microsoft.com/office/drawing/2014/main" val="52036897"/>
                  </a:ext>
                </a:extLst>
              </a:tr>
              <a:tr h="324801">
                <a:tc>
                  <a:txBody>
                    <a:bodyPr/>
                    <a:lstStyle/>
                    <a:p>
                      <a:r>
                        <a:rPr lang="en-US" sz="2000" b="1" dirty="0"/>
                        <a:t>Certificate IV in Information Technology</a:t>
                      </a:r>
                    </a:p>
                  </a:txBody>
                  <a:tcPr/>
                </a:tc>
                <a:tc>
                  <a:txBody>
                    <a:bodyPr/>
                    <a:lstStyle/>
                    <a:p>
                      <a:pPr marL="179388" indent="0" algn="l" defTabSz="457200" rtl="0" eaLnBrk="1" latinLnBrk="0" hangingPunct="1"/>
                      <a:r>
                        <a:rPr lang="en-US" sz="2000" b="0" kern="1200" dirty="0">
                          <a:solidFill>
                            <a:schemeClr val="lt1"/>
                          </a:solidFill>
                          <a:latin typeface="+mn-lt"/>
                          <a:ea typeface="+mn-ea"/>
                          <a:cs typeface="+mn-cs"/>
                        </a:rPr>
                        <a:t>Networking</a:t>
                      </a:r>
                    </a:p>
                  </a:txBody>
                  <a:tcPr/>
                </a:tc>
                <a:extLst>
                  <a:ext uri="{0D108BD9-81ED-4DB2-BD59-A6C34878D82A}">
                    <a16:rowId xmlns:a16="http://schemas.microsoft.com/office/drawing/2014/main" val="941145414"/>
                  </a:ext>
                </a:extLst>
              </a:tr>
            </a:tbl>
          </a:graphicData>
        </a:graphic>
      </p:graphicFrame>
      <p:sp>
        <p:nvSpPr>
          <p:cNvPr id="40" name="Text Placeholder 39"/>
          <p:cNvSpPr>
            <a:spLocks noGrp="1"/>
          </p:cNvSpPr>
          <p:nvPr>
            <p:ph type="body" sz="quarter" idx="14"/>
          </p:nvPr>
        </p:nvSpPr>
        <p:spPr>
          <a:xfrm>
            <a:off x="923196" y="2127127"/>
            <a:ext cx="10360268" cy="598488"/>
          </a:xfrm>
        </p:spPr>
        <p:txBody>
          <a:bodyPr/>
          <a:lstStyle/>
          <a:p>
            <a:r>
              <a:rPr lang="en-AU" dirty="0"/>
              <a:t>North Metropolitan TAFE – Joondalup</a:t>
            </a:r>
          </a:p>
        </p:txBody>
      </p:sp>
      <p:sp>
        <p:nvSpPr>
          <p:cNvPr id="6" name="Text Placeholder 5">
            <a:extLst>
              <a:ext uri="{FF2B5EF4-FFF2-40B4-BE49-F238E27FC236}">
                <a16:creationId xmlns:a16="http://schemas.microsoft.com/office/drawing/2014/main" id="{D6B7FEDC-D992-724A-A409-0B70E13A944A}"/>
              </a:ext>
            </a:extLst>
          </p:cNvPr>
          <p:cNvSpPr>
            <a:spLocks noGrp="1"/>
          </p:cNvSpPr>
          <p:nvPr>
            <p:ph type="body" sz="quarter" idx="15"/>
          </p:nvPr>
        </p:nvSpPr>
        <p:spPr>
          <a:xfrm>
            <a:off x="908536" y="2725615"/>
            <a:ext cx="10366132" cy="506589"/>
          </a:xfrm>
        </p:spPr>
        <p:txBody>
          <a:bodyPr>
            <a:normAutofit lnSpcReduction="10000"/>
          </a:bodyPr>
          <a:lstStyle/>
          <a:p>
            <a:r>
              <a:rPr lang="en-US" dirty="0"/>
              <a:t>Semester 1 - 2023</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69F3B-A876-5343-BCD6-37A6D922EB7A}"/>
              </a:ext>
            </a:extLst>
          </p:cNvPr>
          <p:cNvSpPr>
            <a:spLocks noGrp="1"/>
          </p:cNvSpPr>
          <p:nvPr>
            <p:ph type="ctrTitle"/>
          </p:nvPr>
        </p:nvSpPr>
        <p:spPr/>
        <p:txBody>
          <a:bodyPr/>
          <a:lstStyle/>
          <a:p>
            <a:r>
              <a:rPr lang="en-US" dirty="0"/>
              <a:t>Innovation Cluster/Project</a:t>
            </a:r>
          </a:p>
        </p:txBody>
      </p:sp>
      <p:graphicFrame>
        <p:nvGraphicFramePr>
          <p:cNvPr id="8" name="Table 8">
            <a:extLst>
              <a:ext uri="{FF2B5EF4-FFF2-40B4-BE49-F238E27FC236}">
                <a16:creationId xmlns:a16="http://schemas.microsoft.com/office/drawing/2014/main" id="{BF515413-844B-2243-8E94-4F78D9DB1CE3}"/>
              </a:ext>
            </a:extLst>
          </p:cNvPr>
          <p:cNvGraphicFramePr>
            <a:graphicFrameLocks noGrp="1"/>
          </p:cNvGraphicFramePr>
          <p:nvPr>
            <p:ph type="tbl" sz="quarter" idx="13"/>
            <p:extLst>
              <p:ext uri="{D42A27DB-BD31-4B8C-83A1-F6EECF244321}">
                <p14:modId xmlns:p14="http://schemas.microsoft.com/office/powerpoint/2010/main" val="2265438270"/>
              </p:ext>
            </p:extLst>
          </p:nvPr>
        </p:nvGraphicFramePr>
        <p:xfrm>
          <a:off x="911225" y="4870450"/>
          <a:ext cx="10363200" cy="1483360"/>
        </p:xfrm>
        <a:graphic>
          <a:graphicData uri="http://schemas.openxmlformats.org/drawingml/2006/table">
            <a:tbl>
              <a:tblPr firstRow="1" bandRow="1">
                <a:tableStyleId>{5C22544A-7EE6-4342-B048-85BDC9FD1C3A}</a:tableStyleId>
              </a:tblPr>
              <a:tblGrid>
                <a:gridCol w="7770320">
                  <a:extLst>
                    <a:ext uri="{9D8B030D-6E8A-4147-A177-3AD203B41FA5}">
                      <a16:colId xmlns:a16="http://schemas.microsoft.com/office/drawing/2014/main" val="3335759049"/>
                    </a:ext>
                  </a:extLst>
                </a:gridCol>
                <a:gridCol w="2592880">
                  <a:extLst>
                    <a:ext uri="{9D8B030D-6E8A-4147-A177-3AD203B41FA5}">
                      <a16:colId xmlns:a16="http://schemas.microsoft.com/office/drawing/2014/main" val="3944636139"/>
                    </a:ext>
                  </a:extLst>
                </a:gridCol>
              </a:tblGrid>
              <a:tr h="370840">
                <a:tc>
                  <a:txBody>
                    <a:bodyPr/>
                    <a:lstStyle/>
                    <a:p>
                      <a:r>
                        <a:rPr lang="en-US" dirty="0"/>
                        <a:t>Unit of Competency</a:t>
                      </a:r>
                    </a:p>
                  </a:txBody>
                  <a:tcPr/>
                </a:tc>
                <a:tc>
                  <a:txBody>
                    <a:bodyPr/>
                    <a:lstStyle/>
                    <a:p>
                      <a:r>
                        <a:rPr lang="en-US" dirty="0"/>
                        <a:t>Code</a:t>
                      </a:r>
                    </a:p>
                  </a:txBody>
                  <a:tcPr/>
                </a:tc>
                <a:extLst>
                  <a:ext uri="{0D108BD9-81ED-4DB2-BD59-A6C34878D82A}">
                    <a16:rowId xmlns:a16="http://schemas.microsoft.com/office/drawing/2014/main" val="222733269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1" i="0" kern="1200" dirty="0">
                          <a:solidFill>
                            <a:schemeClr val="dk1"/>
                          </a:solidFill>
                          <a:effectLst/>
                          <a:latin typeface="+mn-lt"/>
                          <a:ea typeface="+mn-ea"/>
                          <a:cs typeface="+mn-cs"/>
                        </a:rPr>
                        <a:t>Identify and evaluate emerging technologies and practices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1" i="0" kern="1200" dirty="0">
                          <a:solidFill>
                            <a:schemeClr val="dk1"/>
                          </a:solidFill>
                          <a:effectLst/>
                          <a:latin typeface="+mn-lt"/>
                          <a:ea typeface="+mn-ea"/>
                          <a:cs typeface="+mn-cs"/>
                        </a:rPr>
                        <a:t>ICTICT426</a:t>
                      </a:r>
                    </a:p>
                  </a:txBody>
                  <a:tcPr/>
                </a:tc>
                <a:extLst>
                  <a:ext uri="{0D108BD9-81ED-4DB2-BD59-A6C34878D82A}">
                    <a16:rowId xmlns:a16="http://schemas.microsoft.com/office/drawing/2014/main" val="354582015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1" i="0" kern="1200" dirty="0">
                          <a:solidFill>
                            <a:schemeClr val="dk1"/>
                          </a:solidFill>
                          <a:effectLst/>
                          <a:latin typeface="+mn-lt"/>
                          <a:ea typeface="+mn-ea"/>
                          <a:cs typeface="+mn-cs"/>
                        </a:rPr>
                        <a:t>Work collaboratively in the ICT industry</a:t>
                      </a:r>
                    </a:p>
                  </a:txBody>
                  <a:tcPr/>
                </a:tc>
                <a:tc>
                  <a:txBody>
                    <a:bodyPr/>
                    <a:lstStyle/>
                    <a:p>
                      <a:r>
                        <a:rPr lang="en-US" dirty="0"/>
                        <a:t>ICTICT443</a:t>
                      </a:r>
                    </a:p>
                  </a:txBody>
                  <a:tcPr/>
                </a:tc>
                <a:extLst>
                  <a:ext uri="{0D108BD9-81ED-4DB2-BD59-A6C34878D82A}">
                    <a16:rowId xmlns:a16="http://schemas.microsoft.com/office/drawing/2014/main" val="301437045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1" i="0" kern="1200" dirty="0">
                          <a:solidFill>
                            <a:schemeClr val="dk1"/>
                          </a:solidFill>
                          <a:effectLst/>
                          <a:latin typeface="+mn-lt"/>
                          <a:ea typeface="+mn-ea"/>
                          <a:cs typeface="+mn-cs"/>
                        </a:rPr>
                        <a:t>Apply advanced critical thinking to work processes</a:t>
                      </a:r>
                    </a:p>
                  </a:txBody>
                  <a:tcPr/>
                </a:tc>
                <a:tc>
                  <a:txBody>
                    <a:bodyPr/>
                    <a:lstStyle/>
                    <a:p>
                      <a:r>
                        <a:rPr lang="en-US" dirty="0"/>
                        <a:t>BSBCRT404</a:t>
                      </a:r>
                    </a:p>
                  </a:txBody>
                  <a:tcPr/>
                </a:tc>
                <a:extLst>
                  <a:ext uri="{0D108BD9-81ED-4DB2-BD59-A6C34878D82A}">
                    <a16:rowId xmlns:a16="http://schemas.microsoft.com/office/drawing/2014/main" val="3856925179"/>
                  </a:ext>
                </a:extLst>
              </a:tr>
            </a:tbl>
          </a:graphicData>
        </a:graphic>
      </p:graphicFrame>
      <p:sp>
        <p:nvSpPr>
          <p:cNvPr id="4" name="Text Placeholder 3">
            <a:extLst>
              <a:ext uri="{FF2B5EF4-FFF2-40B4-BE49-F238E27FC236}">
                <a16:creationId xmlns:a16="http://schemas.microsoft.com/office/drawing/2014/main" id="{0036823B-ABD0-DA4F-A212-37B0A732D8A1}"/>
              </a:ext>
            </a:extLst>
          </p:cNvPr>
          <p:cNvSpPr>
            <a:spLocks noGrp="1"/>
          </p:cNvSpPr>
          <p:nvPr>
            <p:ph type="body" sz="quarter" idx="14"/>
          </p:nvPr>
        </p:nvSpPr>
        <p:spPr/>
        <p:txBody>
          <a:bodyPr/>
          <a:lstStyle/>
          <a:p>
            <a:r>
              <a:rPr lang="en-US" dirty="0"/>
              <a:t>Session 03</a:t>
            </a:r>
          </a:p>
        </p:txBody>
      </p:sp>
      <p:sp>
        <p:nvSpPr>
          <p:cNvPr id="5" name="Text Placeholder 4">
            <a:extLst>
              <a:ext uri="{FF2B5EF4-FFF2-40B4-BE49-F238E27FC236}">
                <a16:creationId xmlns:a16="http://schemas.microsoft.com/office/drawing/2014/main" id="{CC77F338-4655-424C-AA0B-5E7DE70C61F6}"/>
              </a:ext>
            </a:extLst>
          </p:cNvPr>
          <p:cNvSpPr>
            <a:spLocks noGrp="1"/>
          </p:cNvSpPr>
          <p:nvPr>
            <p:ph type="body" sz="quarter" idx="15"/>
          </p:nvPr>
        </p:nvSpPr>
        <p:spPr/>
        <p:txBody>
          <a:bodyPr/>
          <a:lstStyle/>
          <a:p>
            <a:r>
              <a:rPr lang="en-US" dirty="0"/>
              <a:t>Digital Collaboration: Tools and Processes</a:t>
            </a:r>
          </a:p>
        </p:txBody>
      </p:sp>
      <p:sp>
        <p:nvSpPr>
          <p:cNvPr id="6" name="Text Placeholder 5">
            <a:extLst>
              <a:ext uri="{FF2B5EF4-FFF2-40B4-BE49-F238E27FC236}">
                <a16:creationId xmlns:a16="http://schemas.microsoft.com/office/drawing/2014/main" id="{A0A0DB43-8B32-4A4A-9E27-D5A3C2DAFDF3}"/>
              </a:ext>
            </a:extLst>
          </p:cNvPr>
          <p:cNvSpPr>
            <a:spLocks noGrp="1"/>
          </p:cNvSpPr>
          <p:nvPr>
            <p:ph type="body" sz="quarter" idx="16"/>
          </p:nvPr>
        </p:nvSpPr>
        <p:spPr/>
        <p:txBody>
          <a:bodyPr/>
          <a:lstStyle/>
          <a:p>
            <a:r>
              <a:rPr lang="en-US" dirty="0"/>
              <a:t>Brad Higgins, Lecturer NMTAFE</a:t>
            </a:r>
          </a:p>
        </p:txBody>
      </p:sp>
    </p:spTree>
    <p:extLst>
      <p:ext uri="{BB962C8B-B14F-4D97-AF65-F5344CB8AC3E}">
        <p14:creationId xmlns:p14="http://schemas.microsoft.com/office/powerpoint/2010/main" val="3321372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C5FE-12BE-FB4C-9769-A7147A2B1EE2}"/>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CD388A7F-F6B5-8449-9BBB-DEE56459D7C6}"/>
              </a:ext>
            </a:extLst>
          </p:cNvPr>
          <p:cNvSpPr>
            <a:spLocks noGrp="1"/>
          </p:cNvSpPr>
          <p:nvPr>
            <p:ph idx="1"/>
          </p:nvPr>
        </p:nvSpPr>
        <p:spPr/>
        <p:txBody>
          <a:bodyPr>
            <a:normAutofit fontScale="92500" lnSpcReduction="20000"/>
          </a:bodyPr>
          <a:lstStyle/>
          <a:p>
            <a:endParaRPr lang="en-US" dirty="0"/>
          </a:p>
          <a:p>
            <a:r>
              <a:rPr lang="en-US" dirty="0"/>
              <a:t>Legal and regulatory requirements that inform policy governing use of collaborative tools</a:t>
            </a:r>
          </a:p>
          <a:p>
            <a:pPr lvl="1"/>
            <a:r>
              <a:rPr lang="en-US" dirty="0"/>
              <a:t>Laws</a:t>
            </a:r>
          </a:p>
          <a:p>
            <a:pPr lvl="1"/>
            <a:r>
              <a:rPr lang="en-US" dirty="0"/>
              <a:t>Regulations</a:t>
            </a:r>
          </a:p>
          <a:p>
            <a:pPr lvl="1"/>
            <a:r>
              <a:rPr lang="en-US" dirty="0"/>
              <a:t>Codes and Standards</a:t>
            </a:r>
          </a:p>
          <a:p>
            <a:pPr lvl="1"/>
            <a:r>
              <a:rPr lang="en-US" dirty="0"/>
              <a:t>Policy</a:t>
            </a:r>
          </a:p>
          <a:p>
            <a:pPr lvl="1"/>
            <a:endParaRPr lang="en-US" dirty="0"/>
          </a:p>
          <a:p>
            <a:r>
              <a:rPr lang="en-US" dirty="0"/>
              <a:t>Best Practice when using Collaborative Software</a:t>
            </a:r>
          </a:p>
          <a:p>
            <a:r>
              <a:rPr lang="en-US" dirty="0"/>
              <a:t>Innovative Technology Presentations and Reflection</a:t>
            </a:r>
          </a:p>
        </p:txBody>
      </p:sp>
    </p:spTree>
    <p:extLst>
      <p:ext uri="{BB962C8B-B14F-4D97-AF65-F5344CB8AC3E}">
        <p14:creationId xmlns:p14="http://schemas.microsoft.com/office/powerpoint/2010/main" val="744024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8A403-A944-C3BA-D38F-660EC18C1D43}"/>
              </a:ext>
            </a:extLst>
          </p:cNvPr>
          <p:cNvSpPr>
            <a:spLocks noGrp="1"/>
          </p:cNvSpPr>
          <p:nvPr>
            <p:ph type="title"/>
          </p:nvPr>
        </p:nvSpPr>
        <p:spPr/>
        <p:txBody>
          <a:bodyPr/>
          <a:lstStyle/>
          <a:p>
            <a:r>
              <a:rPr lang="en-AU" dirty="0"/>
              <a:t>Laws and regulations</a:t>
            </a:r>
          </a:p>
        </p:txBody>
      </p:sp>
      <p:sp>
        <p:nvSpPr>
          <p:cNvPr id="5" name="Text Placeholder 4">
            <a:extLst>
              <a:ext uri="{FF2B5EF4-FFF2-40B4-BE49-F238E27FC236}">
                <a16:creationId xmlns:a16="http://schemas.microsoft.com/office/drawing/2014/main" id="{AD4EA362-BD44-17F2-1AF7-198B35B8DFB5}"/>
              </a:ext>
            </a:extLst>
          </p:cNvPr>
          <p:cNvSpPr>
            <a:spLocks noGrp="1"/>
          </p:cNvSpPr>
          <p:nvPr>
            <p:ph type="body" idx="1"/>
          </p:nvPr>
        </p:nvSpPr>
        <p:spPr/>
        <p:txBody>
          <a:bodyPr/>
          <a:lstStyle/>
          <a:p>
            <a:r>
              <a:rPr lang="en-AU" dirty="0"/>
              <a:t>Collaborative Software</a:t>
            </a:r>
          </a:p>
        </p:txBody>
      </p:sp>
    </p:spTree>
    <p:extLst>
      <p:ext uri="{BB962C8B-B14F-4D97-AF65-F5344CB8AC3E}">
        <p14:creationId xmlns:p14="http://schemas.microsoft.com/office/powerpoint/2010/main" val="3258084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9A393-12D1-70BF-5F7A-07B2AF6FDC10}"/>
              </a:ext>
            </a:extLst>
          </p:cNvPr>
          <p:cNvSpPr>
            <a:spLocks noGrp="1"/>
          </p:cNvSpPr>
          <p:nvPr>
            <p:ph type="title"/>
          </p:nvPr>
        </p:nvSpPr>
        <p:spPr/>
        <p:txBody>
          <a:bodyPr/>
          <a:lstStyle/>
          <a:p>
            <a:r>
              <a:rPr lang="en-AU" dirty="0"/>
              <a:t>Collaborative Tools</a:t>
            </a:r>
          </a:p>
        </p:txBody>
      </p:sp>
      <p:sp>
        <p:nvSpPr>
          <p:cNvPr id="3" name="Content Placeholder 2">
            <a:extLst>
              <a:ext uri="{FF2B5EF4-FFF2-40B4-BE49-F238E27FC236}">
                <a16:creationId xmlns:a16="http://schemas.microsoft.com/office/drawing/2014/main" id="{0DEF2920-8E9B-4DFD-CDE3-D015EFFDB75C}"/>
              </a:ext>
            </a:extLst>
          </p:cNvPr>
          <p:cNvSpPr>
            <a:spLocks noGrp="1"/>
          </p:cNvSpPr>
          <p:nvPr>
            <p:ph idx="1"/>
          </p:nvPr>
        </p:nvSpPr>
        <p:spPr/>
        <p:txBody>
          <a:bodyPr/>
          <a:lstStyle/>
          <a:p>
            <a:pPr marL="0" indent="0" algn="just">
              <a:buNone/>
            </a:pPr>
            <a:r>
              <a:rPr lang="en-US" dirty="0"/>
              <a:t>Collaborative tools have become increasingly popular for communication, collaboration, and information sharing. However, their use is governed by a variety of laws and regulations, including data privacy, intellectual property, and accessibility laws. In this lesson, we will explore the key legal and regulatory requirements specific to Australia that inform policies for the use of collaborative tools.</a:t>
            </a:r>
            <a:endParaRPr lang="en-AU" dirty="0"/>
          </a:p>
        </p:txBody>
      </p:sp>
    </p:spTree>
    <p:extLst>
      <p:ext uri="{BB962C8B-B14F-4D97-AF65-F5344CB8AC3E}">
        <p14:creationId xmlns:p14="http://schemas.microsoft.com/office/powerpoint/2010/main" val="3327782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E8FA-1048-013A-8D5C-D87D53FAEA2E}"/>
              </a:ext>
            </a:extLst>
          </p:cNvPr>
          <p:cNvSpPr>
            <a:spLocks noGrp="1"/>
          </p:cNvSpPr>
          <p:nvPr>
            <p:ph type="title"/>
          </p:nvPr>
        </p:nvSpPr>
        <p:spPr/>
        <p:txBody>
          <a:bodyPr/>
          <a:lstStyle/>
          <a:p>
            <a:r>
              <a:rPr lang="en-AU" dirty="0"/>
              <a:t>Data Privacy Laws</a:t>
            </a:r>
          </a:p>
        </p:txBody>
      </p:sp>
      <p:sp>
        <p:nvSpPr>
          <p:cNvPr id="3" name="Content Placeholder 2">
            <a:extLst>
              <a:ext uri="{FF2B5EF4-FFF2-40B4-BE49-F238E27FC236}">
                <a16:creationId xmlns:a16="http://schemas.microsoft.com/office/drawing/2014/main" id="{E903907E-E39C-EF2E-BB22-41A12C3BCC1B}"/>
              </a:ext>
            </a:extLst>
          </p:cNvPr>
          <p:cNvSpPr>
            <a:spLocks noGrp="1"/>
          </p:cNvSpPr>
          <p:nvPr>
            <p:ph idx="1"/>
          </p:nvPr>
        </p:nvSpPr>
        <p:spPr/>
        <p:txBody>
          <a:bodyPr>
            <a:normAutofit lnSpcReduction="10000"/>
          </a:bodyPr>
          <a:lstStyle/>
          <a:p>
            <a:pPr marL="0" indent="0" algn="just">
              <a:buNone/>
            </a:pPr>
            <a:r>
              <a:rPr lang="en-US" dirty="0"/>
              <a:t>In Australia, data privacy is governed by the Privacy Act 1988. The Privacy Act requires organizations to comply with privacy principles, including collection, storage, use, and disclosure of personal information. </a:t>
            </a:r>
          </a:p>
          <a:p>
            <a:pPr marL="0" indent="0" algn="just">
              <a:buNone/>
            </a:pPr>
            <a:endParaRPr lang="en-US" dirty="0"/>
          </a:p>
          <a:p>
            <a:pPr marL="0" indent="0" algn="just">
              <a:buNone/>
            </a:pPr>
            <a:r>
              <a:rPr lang="en-US" dirty="0"/>
              <a:t>In the context of collaborative tools, this means that policies must be in place to ensure that sensitive personal information is not shared inappropriately and that appropriate measures are taken to secure data.</a:t>
            </a:r>
            <a:endParaRPr lang="en-AU" dirty="0"/>
          </a:p>
        </p:txBody>
      </p:sp>
    </p:spTree>
    <p:extLst>
      <p:ext uri="{BB962C8B-B14F-4D97-AF65-F5344CB8AC3E}">
        <p14:creationId xmlns:p14="http://schemas.microsoft.com/office/powerpoint/2010/main" val="4270470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E8FA-1048-013A-8D5C-D87D53FAEA2E}"/>
              </a:ext>
            </a:extLst>
          </p:cNvPr>
          <p:cNvSpPr>
            <a:spLocks noGrp="1"/>
          </p:cNvSpPr>
          <p:nvPr>
            <p:ph type="title"/>
          </p:nvPr>
        </p:nvSpPr>
        <p:spPr/>
        <p:txBody>
          <a:bodyPr/>
          <a:lstStyle/>
          <a:p>
            <a:r>
              <a:rPr lang="en-AU" dirty="0"/>
              <a:t>Data Privacy Laws</a:t>
            </a:r>
          </a:p>
        </p:txBody>
      </p:sp>
      <p:sp>
        <p:nvSpPr>
          <p:cNvPr id="3" name="Content Placeholder 2">
            <a:extLst>
              <a:ext uri="{FF2B5EF4-FFF2-40B4-BE49-F238E27FC236}">
                <a16:creationId xmlns:a16="http://schemas.microsoft.com/office/drawing/2014/main" id="{E903907E-E39C-EF2E-BB22-41A12C3BCC1B}"/>
              </a:ext>
            </a:extLst>
          </p:cNvPr>
          <p:cNvSpPr>
            <a:spLocks noGrp="1"/>
          </p:cNvSpPr>
          <p:nvPr>
            <p:ph idx="1"/>
          </p:nvPr>
        </p:nvSpPr>
        <p:spPr/>
        <p:txBody>
          <a:bodyPr/>
          <a:lstStyle/>
          <a:p>
            <a:pPr marL="0" indent="0">
              <a:buNone/>
            </a:pPr>
            <a:r>
              <a:rPr lang="en-AU" dirty="0">
                <a:hlinkClick r:id="rId2"/>
              </a:rPr>
              <a:t>https://www.ag.gov.au/rights-and-protections/privacy</a:t>
            </a:r>
            <a:r>
              <a:rPr lang="en-AU" dirty="0"/>
              <a:t> </a:t>
            </a:r>
          </a:p>
          <a:p>
            <a:pPr marL="0" indent="0">
              <a:buNone/>
            </a:pPr>
            <a:r>
              <a:rPr lang="en-AU" dirty="0">
                <a:hlinkClick r:id="rId3"/>
              </a:rPr>
              <a:t>https://www.oaic.gov.au/</a:t>
            </a:r>
            <a:r>
              <a:rPr lang="en-AU" dirty="0"/>
              <a:t> </a:t>
            </a:r>
          </a:p>
        </p:txBody>
      </p:sp>
      <p:pic>
        <p:nvPicPr>
          <p:cNvPr id="5" name="Picture 4">
            <a:extLst>
              <a:ext uri="{FF2B5EF4-FFF2-40B4-BE49-F238E27FC236}">
                <a16:creationId xmlns:a16="http://schemas.microsoft.com/office/drawing/2014/main" id="{3C3DADC2-E720-3417-F633-7014FD8DE372}"/>
              </a:ext>
            </a:extLst>
          </p:cNvPr>
          <p:cNvPicPr>
            <a:picLocks noChangeAspect="1"/>
          </p:cNvPicPr>
          <p:nvPr/>
        </p:nvPicPr>
        <p:blipFill>
          <a:blip r:embed="rId4"/>
          <a:stretch>
            <a:fillRect/>
          </a:stretch>
        </p:blipFill>
        <p:spPr>
          <a:xfrm>
            <a:off x="1904969" y="3084047"/>
            <a:ext cx="8382061" cy="3400450"/>
          </a:xfrm>
          <a:prstGeom prst="rect">
            <a:avLst/>
          </a:prstGeom>
        </p:spPr>
      </p:pic>
    </p:spTree>
    <p:extLst>
      <p:ext uri="{BB962C8B-B14F-4D97-AF65-F5344CB8AC3E}">
        <p14:creationId xmlns:p14="http://schemas.microsoft.com/office/powerpoint/2010/main" val="376135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E8FA-1048-013A-8D5C-D87D53FAEA2E}"/>
              </a:ext>
            </a:extLst>
          </p:cNvPr>
          <p:cNvSpPr>
            <a:spLocks noGrp="1"/>
          </p:cNvSpPr>
          <p:nvPr>
            <p:ph type="title"/>
          </p:nvPr>
        </p:nvSpPr>
        <p:spPr/>
        <p:txBody>
          <a:bodyPr/>
          <a:lstStyle/>
          <a:p>
            <a:r>
              <a:rPr lang="en-AU" dirty="0"/>
              <a:t>Data Privacy Laws</a:t>
            </a:r>
          </a:p>
        </p:txBody>
      </p:sp>
      <p:sp>
        <p:nvSpPr>
          <p:cNvPr id="3" name="Content Placeholder 2">
            <a:extLst>
              <a:ext uri="{FF2B5EF4-FFF2-40B4-BE49-F238E27FC236}">
                <a16:creationId xmlns:a16="http://schemas.microsoft.com/office/drawing/2014/main" id="{E903907E-E39C-EF2E-BB22-41A12C3BCC1B}"/>
              </a:ext>
            </a:extLst>
          </p:cNvPr>
          <p:cNvSpPr>
            <a:spLocks noGrp="1"/>
          </p:cNvSpPr>
          <p:nvPr>
            <p:ph idx="1"/>
          </p:nvPr>
        </p:nvSpPr>
        <p:spPr/>
        <p:txBody>
          <a:bodyPr/>
          <a:lstStyle/>
          <a:p>
            <a:pPr marL="0" indent="0" algn="just">
              <a:buNone/>
            </a:pPr>
            <a:r>
              <a:rPr lang="en-AU" dirty="0"/>
              <a:t>How do these privacy laws impact the way we use collaborative software?</a:t>
            </a:r>
          </a:p>
          <a:p>
            <a:pPr marL="0" indent="0" algn="just">
              <a:buNone/>
            </a:pPr>
            <a:endParaRPr lang="en-AU" dirty="0"/>
          </a:p>
          <a:p>
            <a:pPr marL="0" indent="0" algn="just">
              <a:buNone/>
            </a:pPr>
            <a:r>
              <a:rPr lang="en-AU" dirty="0"/>
              <a:t>Scenario: How could the Privacy Act 1988 apply to a large multinational company operating in Australia?</a:t>
            </a:r>
          </a:p>
        </p:txBody>
      </p:sp>
    </p:spTree>
    <p:extLst>
      <p:ext uri="{BB962C8B-B14F-4D97-AF65-F5344CB8AC3E}">
        <p14:creationId xmlns:p14="http://schemas.microsoft.com/office/powerpoint/2010/main" val="2971776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E8FA-1048-013A-8D5C-D87D53FAEA2E}"/>
              </a:ext>
            </a:extLst>
          </p:cNvPr>
          <p:cNvSpPr>
            <a:spLocks noGrp="1"/>
          </p:cNvSpPr>
          <p:nvPr>
            <p:ph type="title"/>
          </p:nvPr>
        </p:nvSpPr>
        <p:spPr/>
        <p:txBody>
          <a:bodyPr/>
          <a:lstStyle/>
          <a:p>
            <a:r>
              <a:rPr lang="en-AU" dirty="0"/>
              <a:t>Data Privacy Laws</a:t>
            </a:r>
          </a:p>
        </p:txBody>
      </p:sp>
      <p:sp>
        <p:nvSpPr>
          <p:cNvPr id="3" name="Content Placeholder 2">
            <a:extLst>
              <a:ext uri="{FF2B5EF4-FFF2-40B4-BE49-F238E27FC236}">
                <a16:creationId xmlns:a16="http://schemas.microsoft.com/office/drawing/2014/main" id="{E903907E-E39C-EF2E-BB22-41A12C3BCC1B}"/>
              </a:ext>
            </a:extLst>
          </p:cNvPr>
          <p:cNvSpPr>
            <a:spLocks noGrp="1"/>
          </p:cNvSpPr>
          <p:nvPr>
            <p:ph idx="1"/>
          </p:nvPr>
        </p:nvSpPr>
        <p:spPr/>
        <p:txBody>
          <a:bodyPr>
            <a:normAutofit lnSpcReduction="10000"/>
          </a:bodyPr>
          <a:lstStyle/>
          <a:p>
            <a:pPr marL="0" indent="0" algn="just">
              <a:buNone/>
            </a:pPr>
            <a:r>
              <a:rPr lang="en-US" sz="1600" dirty="0"/>
              <a:t>A large multinational corporation that uses a collaborative software platform for communication and information sharing between its employees and partners across the globe. The software platform allows users to store and share sensitive personal information, such as client data, financial information, and confidential business information.</a:t>
            </a:r>
          </a:p>
          <a:p>
            <a:pPr marL="0" indent="0" algn="just">
              <a:buNone/>
            </a:pPr>
            <a:endParaRPr lang="en-US" sz="1600" dirty="0"/>
          </a:p>
          <a:p>
            <a:pPr marL="0" indent="0" algn="just">
              <a:buNone/>
            </a:pPr>
            <a:r>
              <a:rPr lang="en-US" sz="1600" dirty="0"/>
              <a:t>Under the Privacy Act 1988, the corporation is required to comply with privacy principles, including the collection, storage, use, and disclosure of personal information. In this scenario, the corporation must ensure that appropriate measures are in place to secure the sensitive personal information stored and shared through the collaborative software platform. This could include implementing encryption technologies, restricting access to sensitive data, and regularly monitoring the platform for any unauthorized access or breaches.</a:t>
            </a:r>
          </a:p>
          <a:p>
            <a:pPr marL="0" indent="0" algn="just">
              <a:buNone/>
            </a:pPr>
            <a:endParaRPr lang="en-US" sz="1600" dirty="0"/>
          </a:p>
          <a:p>
            <a:pPr marL="0" indent="0" algn="just">
              <a:buNone/>
            </a:pPr>
            <a:r>
              <a:rPr lang="en-US" sz="1600" dirty="0"/>
              <a:t>Additionally, the corporation must have policies in place to ensure that personal information is not disclosed inappropriately. For example, employees must be trained on the proper use of the collaborative software platform and must be informed of the consequences of sharing personal information without consent. The corporation must also have processes in place for dealing with privacy breaches, such as reporting incidents to the relevant authorities and taking steps to prevent similar breaches from occurring in the future.</a:t>
            </a:r>
          </a:p>
          <a:p>
            <a:pPr marL="0" indent="0" algn="just">
              <a:buNone/>
            </a:pPr>
            <a:endParaRPr lang="en-US" sz="1600" dirty="0"/>
          </a:p>
          <a:p>
            <a:pPr marL="0" indent="0" algn="just">
              <a:buNone/>
            </a:pPr>
            <a:r>
              <a:rPr lang="en-US" sz="1600" dirty="0"/>
              <a:t>In this scenario, the Privacy Act 1988 applies to the use of the collaborative software platform and informs the corporation's policies and practices for ensuring the privacy of sensitive personal information stored and shared through the platform.</a:t>
            </a:r>
            <a:endParaRPr lang="en-AU" sz="1600" dirty="0"/>
          </a:p>
        </p:txBody>
      </p:sp>
    </p:spTree>
    <p:extLst>
      <p:ext uri="{BB962C8B-B14F-4D97-AF65-F5344CB8AC3E}">
        <p14:creationId xmlns:p14="http://schemas.microsoft.com/office/powerpoint/2010/main" val="3813095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2AC2-E63E-C8BB-20FD-01DC32FA13F9}"/>
              </a:ext>
            </a:extLst>
          </p:cNvPr>
          <p:cNvSpPr>
            <a:spLocks noGrp="1"/>
          </p:cNvSpPr>
          <p:nvPr>
            <p:ph type="title"/>
          </p:nvPr>
        </p:nvSpPr>
        <p:spPr/>
        <p:txBody>
          <a:bodyPr/>
          <a:lstStyle/>
          <a:p>
            <a:r>
              <a:rPr lang="en-AU" dirty="0"/>
              <a:t>Intellectual Property Laws</a:t>
            </a:r>
          </a:p>
        </p:txBody>
      </p:sp>
      <p:sp>
        <p:nvSpPr>
          <p:cNvPr id="3" name="Content Placeholder 2">
            <a:extLst>
              <a:ext uri="{FF2B5EF4-FFF2-40B4-BE49-F238E27FC236}">
                <a16:creationId xmlns:a16="http://schemas.microsoft.com/office/drawing/2014/main" id="{DD97A46C-2271-BCC3-201D-17CE5B83C19A}"/>
              </a:ext>
            </a:extLst>
          </p:cNvPr>
          <p:cNvSpPr>
            <a:spLocks noGrp="1"/>
          </p:cNvSpPr>
          <p:nvPr>
            <p:ph idx="1"/>
          </p:nvPr>
        </p:nvSpPr>
        <p:spPr/>
        <p:txBody>
          <a:bodyPr>
            <a:normAutofit lnSpcReduction="10000"/>
          </a:bodyPr>
          <a:lstStyle/>
          <a:p>
            <a:pPr marL="0" indent="0" algn="just">
              <a:buNone/>
            </a:pPr>
            <a:r>
              <a:rPr lang="en-US" dirty="0"/>
              <a:t>Intellectual property laws in Australia are governed by the Copyright Act 1968 and the Trademarks Act 1995. In the context of collaborative tools, it is important to understand and comply with copyright laws, as well as licensing agreements that may be in place. </a:t>
            </a:r>
          </a:p>
          <a:p>
            <a:pPr marL="0" indent="0" algn="just">
              <a:buNone/>
            </a:pPr>
            <a:endParaRPr lang="en-US" dirty="0"/>
          </a:p>
          <a:p>
            <a:pPr marL="0" indent="0" algn="just">
              <a:buNone/>
            </a:pPr>
            <a:r>
              <a:rPr lang="en-US" dirty="0"/>
              <a:t>For example, policies should specify who owns the intellectual property created using collaborative tools and how it may be used and shared.</a:t>
            </a:r>
            <a:endParaRPr lang="en-AU" dirty="0"/>
          </a:p>
        </p:txBody>
      </p:sp>
    </p:spTree>
    <p:extLst>
      <p:ext uri="{BB962C8B-B14F-4D97-AF65-F5344CB8AC3E}">
        <p14:creationId xmlns:p14="http://schemas.microsoft.com/office/powerpoint/2010/main" val="4288304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2AC2-E63E-C8BB-20FD-01DC32FA13F9}"/>
              </a:ext>
            </a:extLst>
          </p:cNvPr>
          <p:cNvSpPr>
            <a:spLocks noGrp="1"/>
          </p:cNvSpPr>
          <p:nvPr>
            <p:ph type="title"/>
          </p:nvPr>
        </p:nvSpPr>
        <p:spPr/>
        <p:txBody>
          <a:bodyPr/>
          <a:lstStyle/>
          <a:p>
            <a:r>
              <a:rPr lang="en-AU" dirty="0"/>
              <a:t>Intellectual Property Laws</a:t>
            </a:r>
          </a:p>
        </p:txBody>
      </p:sp>
      <p:sp>
        <p:nvSpPr>
          <p:cNvPr id="3" name="Content Placeholder 2">
            <a:extLst>
              <a:ext uri="{FF2B5EF4-FFF2-40B4-BE49-F238E27FC236}">
                <a16:creationId xmlns:a16="http://schemas.microsoft.com/office/drawing/2014/main" id="{DD97A46C-2271-BCC3-201D-17CE5B83C19A}"/>
              </a:ext>
            </a:extLst>
          </p:cNvPr>
          <p:cNvSpPr>
            <a:spLocks noGrp="1"/>
          </p:cNvSpPr>
          <p:nvPr>
            <p:ph idx="1"/>
          </p:nvPr>
        </p:nvSpPr>
        <p:spPr>
          <a:xfrm>
            <a:off x="609600" y="1794617"/>
            <a:ext cx="5660571" cy="4563491"/>
          </a:xfrm>
        </p:spPr>
        <p:txBody>
          <a:bodyPr>
            <a:normAutofit lnSpcReduction="10000"/>
          </a:bodyPr>
          <a:lstStyle/>
          <a:p>
            <a:pPr marL="0" indent="0">
              <a:buNone/>
            </a:pPr>
            <a:r>
              <a:rPr lang="en-AU" dirty="0">
                <a:hlinkClick r:id="rId2"/>
              </a:rPr>
              <a:t>https://www.infrastructure.gov.au/media-communications-arts/copyright/copyright-basics</a:t>
            </a:r>
            <a:endParaRPr lang="en-AU" dirty="0"/>
          </a:p>
          <a:p>
            <a:pPr marL="0" indent="0">
              <a:buNone/>
            </a:pPr>
            <a:endParaRPr lang="en-AU" dirty="0"/>
          </a:p>
          <a:p>
            <a:pPr marL="0" indent="0">
              <a:buNone/>
            </a:pPr>
            <a:r>
              <a:rPr lang="en-AU" dirty="0">
                <a:hlinkClick r:id="rId3"/>
              </a:rPr>
              <a:t>https://www.ag.gov.au/rights-and-protections/copyright/copyright-basics</a:t>
            </a:r>
            <a:r>
              <a:rPr lang="en-AU" dirty="0"/>
              <a:t> </a:t>
            </a:r>
          </a:p>
        </p:txBody>
      </p:sp>
      <p:pic>
        <p:nvPicPr>
          <p:cNvPr id="5" name="Picture 4">
            <a:extLst>
              <a:ext uri="{FF2B5EF4-FFF2-40B4-BE49-F238E27FC236}">
                <a16:creationId xmlns:a16="http://schemas.microsoft.com/office/drawing/2014/main" id="{B93D9095-264C-6A58-9313-DDF21A0C77E3}"/>
              </a:ext>
            </a:extLst>
          </p:cNvPr>
          <p:cNvPicPr>
            <a:picLocks noChangeAspect="1"/>
          </p:cNvPicPr>
          <p:nvPr/>
        </p:nvPicPr>
        <p:blipFill>
          <a:blip r:embed="rId4"/>
          <a:stretch>
            <a:fillRect/>
          </a:stretch>
        </p:blipFill>
        <p:spPr>
          <a:xfrm>
            <a:off x="6270171" y="2424794"/>
            <a:ext cx="5694765" cy="2988127"/>
          </a:xfrm>
          <a:prstGeom prst="rect">
            <a:avLst/>
          </a:prstGeom>
        </p:spPr>
      </p:pic>
    </p:spTree>
    <p:extLst>
      <p:ext uri="{BB962C8B-B14F-4D97-AF65-F5344CB8AC3E}">
        <p14:creationId xmlns:p14="http://schemas.microsoft.com/office/powerpoint/2010/main" val="3185622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D924-D158-0E12-796F-06794636A961}"/>
              </a:ext>
            </a:extLst>
          </p:cNvPr>
          <p:cNvSpPr>
            <a:spLocks noGrp="1"/>
          </p:cNvSpPr>
          <p:nvPr>
            <p:ph type="title"/>
          </p:nvPr>
        </p:nvSpPr>
        <p:spPr/>
        <p:txBody>
          <a:bodyPr/>
          <a:lstStyle/>
          <a:p>
            <a:r>
              <a:rPr lang="en-AU" dirty="0"/>
              <a:t>Intellectual Property Laws</a:t>
            </a:r>
          </a:p>
        </p:txBody>
      </p:sp>
      <p:sp>
        <p:nvSpPr>
          <p:cNvPr id="3" name="Content Placeholder 2">
            <a:extLst>
              <a:ext uri="{FF2B5EF4-FFF2-40B4-BE49-F238E27FC236}">
                <a16:creationId xmlns:a16="http://schemas.microsoft.com/office/drawing/2014/main" id="{2EDEA40C-B83D-8779-A67B-9F8C7E3766F4}"/>
              </a:ext>
            </a:extLst>
          </p:cNvPr>
          <p:cNvSpPr>
            <a:spLocks noGrp="1"/>
          </p:cNvSpPr>
          <p:nvPr>
            <p:ph idx="1"/>
          </p:nvPr>
        </p:nvSpPr>
        <p:spPr/>
        <p:txBody>
          <a:bodyPr/>
          <a:lstStyle/>
          <a:p>
            <a:pPr marL="0" indent="0" algn="just">
              <a:buNone/>
            </a:pPr>
            <a:r>
              <a:rPr lang="en-AU" dirty="0"/>
              <a:t>How do these IP laws impact collaborative Software usage in Australia?</a:t>
            </a:r>
          </a:p>
          <a:p>
            <a:pPr algn="just"/>
            <a:endParaRPr lang="en-AU" dirty="0"/>
          </a:p>
          <a:p>
            <a:pPr marL="0" indent="0" algn="just">
              <a:buNone/>
            </a:pPr>
            <a:r>
              <a:rPr lang="en-AU" dirty="0"/>
              <a:t>How might these laws apply to a small startup company?</a:t>
            </a:r>
          </a:p>
        </p:txBody>
      </p:sp>
    </p:spTree>
    <p:extLst>
      <p:ext uri="{BB962C8B-B14F-4D97-AF65-F5344CB8AC3E}">
        <p14:creationId xmlns:p14="http://schemas.microsoft.com/office/powerpoint/2010/main" val="3513887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D924-D158-0E12-796F-06794636A961}"/>
              </a:ext>
            </a:extLst>
          </p:cNvPr>
          <p:cNvSpPr>
            <a:spLocks noGrp="1"/>
          </p:cNvSpPr>
          <p:nvPr>
            <p:ph type="title"/>
          </p:nvPr>
        </p:nvSpPr>
        <p:spPr/>
        <p:txBody>
          <a:bodyPr/>
          <a:lstStyle/>
          <a:p>
            <a:r>
              <a:rPr lang="en-AU" dirty="0"/>
              <a:t>Intellectual Property Laws</a:t>
            </a:r>
          </a:p>
        </p:txBody>
      </p:sp>
      <p:sp>
        <p:nvSpPr>
          <p:cNvPr id="3" name="Content Placeholder 2">
            <a:extLst>
              <a:ext uri="{FF2B5EF4-FFF2-40B4-BE49-F238E27FC236}">
                <a16:creationId xmlns:a16="http://schemas.microsoft.com/office/drawing/2014/main" id="{2EDEA40C-B83D-8779-A67B-9F8C7E3766F4}"/>
              </a:ext>
            </a:extLst>
          </p:cNvPr>
          <p:cNvSpPr>
            <a:spLocks noGrp="1"/>
          </p:cNvSpPr>
          <p:nvPr>
            <p:ph idx="1"/>
          </p:nvPr>
        </p:nvSpPr>
        <p:spPr/>
        <p:txBody>
          <a:bodyPr>
            <a:normAutofit lnSpcReduction="10000"/>
          </a:bodyPr>
          <a:lstStyle/>
          <a:p>
            <a:pPr marL="0" indent="0" algn="just">
              <a:buNone/>
            </a:pPr>
            <a:r>
              <a:rPr lang="en-US" sz="1800" dirty="0"/>
              <a:t>A small startup company that develops a new software platform for collaboration and project management. The platform allows teams to store, share, and collaborate on files, such as documents, presentations, and spreadsheets.</a:t>
            </a:r>
          </a:p>
          <a:p>
            <a:pPr marL="0" indent="0" algn="just">
              <a:buNone/>
            </a:pPr>
            <a:endParaRPr lang="en-US" sz="1800" dirty="0"/>
          </a:p>
          <a:p>
            <a:pPr marL="0" indent="0" algn="just">
              <a:buNone/>
            </a:pPr>
            <a:r>
              <a:rPr lang="en-US" sz="1800" dirty="0"/>
              <a:t>Under intellectual property laws in Australia, the startup company must ensure that it complies with copyright laws and licensing agreements. For example, the company must have policies in place to specify who owns the intellectual property created using the software platform, such as the original authors of the documents or presentations, and how the intellectual property may be used and shared.</a:t>
            </a:r>
          </a:p>
          <a:p>
            <a:pPr marL="0" indent="0" algn="just">
              <a:buNone/>
            </a:pPr>
            <a:endParaRPr lang="en-US" sz="1800" dirty="0"/>
          </a:p>
          <a:p>
            <a:pPr marL="0" indent="0" algn="just">
              <a:buNone/>
            </a:pPr>
            <a:r>
              <a:rPr lang="en-US" sz="1800" dirty="0"/>
              <a:t>Additionally, the company must ensure that it is not using any third-party intellectual property without proper authorization. For example, if employees use the software platform to store and share music or videos, the company must ensure that it has obtained the necessary licenses or permissions to do so.</a:t>
            </a:r>
          </a:p>
          <a:p>
            <a:pPr marL="0" indent="0" algn="just">
              <a:buNone/>
            </a:pPr>
            <a:endParaRPr lang="en-US" sz="1800" dirty="0"/>
          </a:p>
          <a:p>
            <a:pPr marL="0" indent="0" algn="just">
              <a:buNone/>
            </a:pPr>
            <a:r>
              <a:rPr lang="en-US" sz="1800" dirty="0"/>
              <a:t>In this scenario, intellectual property laws apply to the use of the collaborative software platform and inform the company's policies and practices for ensuring the proper use and protection of intellectual property stored and shared through the platform.</a:t>
            </a:r>
          </a:p>
        </p:txBody>
      </p:sp>
    </p:spTree>
    <p:extLst>
      <p:ext uri="{BB962C8B-B14F-4D97-AF65-F5344CB8AC3E}">
        <p14:creationId xmlns:p14="http://schemas.microsoft.com/office/powerpoint/2010/main" val="1427512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3D48D-30D6-39AB-6CA0-4E7ED6B65F64}"/>
              </a:ext>
            </a:extLst>
          </p:cNvPr>
          <p:cNvSpPr>
            <a:spLocks noGrp="1"/>
          </p:cNvSpPr>
          <p:nvPr>
            <p:ph type="title"/>
          </p:nvPr>
        </p:nvSpPr>
        <p:spPr/>
        <p:txBody>
          <a:bodyPr/>
          <a:lstStyle/>
          <a:p>
            <a:r>
              <a:rPr lang="en-AU" dirty="0"/>
              <a:t>Accessibility Laws</a:t>
            </a:r>
          </a:p>
        </p:txBody>
      </p:sp>
      <p:sp>
        <p:nvSpPr>
          <p:cNvPr id="3" name="Content Placeholder 2">
            <a:extLst>
              <a:ext uri="{FF2B5EF4-FFF2-40B4-BE49-F238E27FC236}">
                <a16:creationId xmlns:a16="http://schemas.microsoft.com/office/drawing/2014/main" id="{4B8206E0-5F6B-25E7-2FDD-4EDD67A2DC3D}"/>
              </a:ext>
            </a:extLst>
          </p:cNvPr>
          <p:cNvSpPr>
            <a:spLocks noGrp="1"/>
          </p:cNvSpPr>
          <p:nvPr>
            <p:ph idx="1"/>
          </p:nvPr>
        </p:nvSpPr>
        <p:spPr/>
        <p:txBody>
          <a:bodyPr>
            <a:normAutofit/>
          </a:bodyPr>
          <a:lstStyle/>
          <a:p>
            <a:pPr marL="0" indent="0" algn="just">
              <a:buNone/>
            </a:pPr>
            <a:r>
              <a:rPr lang="en-US" sz="2800" dirty="0"/>
              <a:t>Accessibility laws in Australia are governed by the Disability Discrimination Act 1992. The act requires that goods, services, and facilities be provided in a non-discriminatory manner and be accessible to individuals with disabilities. </a:t>
            </a:r>
          </a:p>
          <a:p>
            <a:pPr marL="0" indent="0" algn="just">
              <a:buNone/>
            </a:pPr>
            <a:endParaRPr lang="en-US" sz="2800" dirty="0"/>
          </a:p>
          <a:p>
            <a:pPr marL="0" indent="0" algn="just">
              <a:buNone/>
            </a:pPr>
            <a:r>
              <a:rPr lang="en-US" sz="2800" dirty="0"/>
              <a:t>In the context of collaborative tools, this means that policies must be in place to ensure that the tools are accessible to individuals with disabilities, such as by including closed captioning for videos or alt text for images.</a:t>
            </a:r>
            <a:endParaRPr lang="en-AU" sz="2800" dirty="0"/>
          </a:p>
        </p:txBody>
      </p:sp>
    </p:spTree>
    <p:extLst>
      <p:ext uri="{BB962C8B-B14F-4D97-AF65-F5344CB8AC3E}">
        <p14:creationId xmlns:p14="http://schemas.microsoft.com/office/powerpoint/2010/main" val="538081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3D48D-30D6-39AB-6CA0-4E7ED6B65F64}"/>
              </a:ext>
            </a:extLst>
          </p:cNvPr>
          <p:cNvSpPr>
            <a:spLocks noGrp="1"/>
          </p:cNvSpPr>
          <p:nvPr>
            <p:ph type="title"/>
          </p:nvPr>
        </p:nvSpPr>
        <p:spPr/>
        <p:txBody>
          <a:bodyPr/>
          <a:lstStyle/>
          <a:p>
            <a:r>
              <a:rPr lang="en-AU" dirty="0"/>
              <a:t>Accessibility Laws</a:t>
            </a:r>
          </a:p>
        </p:txBody>
      </p:sp>
      <p:sp>
        <p:nvSpPr>
          <p:cNvPr id="3" name="Content Placeholder 2">
            <a:extLst>
              <a:ext uri="{FF2B5EF4-FFF2-40B4-BE49-F238E27FC236}">
                <a16:creationId xmlns:a16="http://schemas.microsoft.com/office/drawing/2014/main" id="{4B8206E0-5F6B-25E7-2FDD-4EDD67A2DC3D}"/>
              </a:ext>
            </a:extLst>
          </p:cNvPr>
          <p:cNvSpPr>
            <a:spLocks noGrp="1"/>
          </p:cNvSpPr>
          <p:nvPr>
            <p:ph idx="1"/>
          </p:nvPr>
        </p:nvSpPr>
        <p:spPr/>
        <p:txBody>
          <a:bodyPr>
            <a:normAutofit/>
          </a:bodyPr>
          <a:lstStyle/>
          <a:p>
            <a:pPr marL="0" indent="0">
              <a:buNone/>
            </a:pPr>
            <a:r>
              <a:rPr lang="en-AU" dirty="0">
                <a:hlinkClick r:id="rId2"/>
              </a:rPr>
              <a:t>https://humanrights.gov.au/our-work/employers/disability-discrimination</a:t>
            </a:r>
            <a:r>
              <a:rPr lang="en-AU" dirty="0"/>
              <a:t> </a:t>
            </a:r>
          </a:p>
          <a:p>
            <a:pPr marL="0" indent="0">
              <a:buNone/>
            </a:pPr>
            <a:endParaRPr lang="en-AU" dirty="0"/>
          </a:p>
          <a:p>
            <a:pPr marL="0" indent="0">
              <a:buNone/>
            </a:pPr>
            <a:endParaRPr lang="en-AU" dirty="0"/>
          </a:p>
        </p:txBody>
      </p:sp>
      <p:pic>
        <p:nvPicPr>
          <p:cNvPr id="5" name="Picture 4">
            <a:extLst>
              <a:ext uri="{FF2B5EF4-FFF2-40B4-BE49-F238E27FC236}">
                <a16:creationId xmlns:a16="http://schemas.microsoft.com/office/drawing/2014/main" id="{80628919-E646-FEBE-4041-53BB9673A053}"/>
              </a:ext>
            </a:extLst>
          </p:cNvPr>
          <p:cNvPicPr>
            <a:picLocks noChangeAspect="1"/>
          </p:cNvPicPr>
          <p:nvPr/>
        </p:nvPicPr>
        <p:blipFill>
          <a:blip r:embed="rId3"/>
          <a:stretch>
            <a:fillRect/>
          </a:stretch>
        </p:blipFill>
        <p:spPr>
          <a:xfrm>
            <a:off x="2664253" y="3128822"/>
            <a:ext cx="6659362" cy="3365873"/>
          </a:xfrm>
          <a:prstGeom prst="rect">
            <a:avLst/>
          </a:prstGeom>
        </p:spPr>
      </p:pic>
    </p:spTree>
    <p:extLst>
      <p:ext uri="{BB962C8B-B14F-4D97-AF65-F5344CB8AC3E}">
        <p14:creationId xmlns:p14="http://schemas.microsoft.com/office/powerpoint/2010/main" val="4013159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3D48D-30D6-39AB-6CA0-4E7ED6B65F64}"/>
              </a:ext>
            </a:extLst>
          </p:cNvPr>
          <p:cNvSpPr>
            <a:spLocks noGrp="1"/>
          </p:cNvSpPr>
          <p:nvPr>
            <p:ph type="title"/>
          </p:nvPr>
        </p:nvSpPr>
        <p:spPr>
          <a:xfrm>
            <a:off x="609600" y="720955"/>
            <a:ext cx="10972800" cy="1003205"/>
          </a:xfrm>
        </p:spPr>
        <p:txBody>
          <a:bodyPr/>
          <a:lstStyle/>
          <a:p>
            <a:r>
              <a:rPr lang="en-AU" dirty="0"/>
              <a:t>Accessibility Laws</a:t>
            </a:r>
          </a:p>
        </p:txBody>
      </p:sp>
      <p:sp>
        <p:nvSpPr>
          <p:cNvPr id="3" name="Content Placeholder 2">
            <a:extLst>
              <a:ext uri="{FF2B5EF4-FFF2-40B4-BE49-F238E27FC236}">
                <a16:creationId xmlns:a16="http://schemas.microsoft.com/office/drawing/2014/main" id="{4B8206E0-5F6B-25E7-2FDD-4EDD67A2DC3D}"/>
              </a:ext>
            </a:extLst>
          </p:cNvPr>
          <p:cNvSpPr>
            <a:spLocks noGrp="1"/>
          </p:cNvSpPr>
          <p:nvPr>
            <p:ph idx="1"/>
          </p:nvPr>
        </p:nvSpPr>
        <p:spPr>
          <a:xfrm>
            <a:off x="609600" y="2230734"/>
            <a:ext cx="10972800" cy="4127374"/>
          </a:xfrm>
        </p:spPr>
        <p:txBody>
          <a:bodyPr>
            <a:normAutofit/>
          </a:bodyPr>
          <a:lstStyle/>
          <a:p>
            <a:pPr marL="0" indent="0" algn="just">
              <a:buNone/>
            </a:pPr>
            <a:r>
              <a:rPr lang="en-AU" sz="3000" dirty="0"/>
              <a:t>How would the laws around accessibility impact the usage of collaborative software?</a:t>
            </a:r>
          </a:p>
          <a:p>
            <a:pPr marL="0" indent="0" algn="just">
              <a:buNone/>
            </a:pPr>
            <a:endParaRPr lang="en-AU" sz="3000" dirty="0"/>
          </a:p>
          <a:p>
            <a:pPr marL="0" indent="0" algn="just">
              <a:buNone/>
            </a:pPr>
            <a:r>
              <a:rPr lang="en-AU" sz="3000" dirty="0"/>
              <a:t>A government agency provides a communication platform for its employees / customers. What are some ways this software could accommodate the requirements under the discrimination act?</a:t>
            </a:r>
          </a:p>
        </p:txBody>
      </p:sp>
    </p:spTree>
    <p:extLst>
      <p:ext uri="{BB962C8B-B14F-4D97-AF65-F5344CB8AC3E}">
        <p14:creationId xmlns:p14="http://schemas.microsoft.com/office/powerpoint/2010/main" val="864136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5464F-4EE0-A57B-75EF-008E2E851A00}"/>
              </a:ext>
            </a:extLst>
          </p:cNvPr>
          <p:cNvSpPr>
            <a:spLocks noGrp="1"/>
          </p:cNvSpPr>
          <p:nvPr>
            <p:ph type="title"/>
          </p:nvPr>
        </p:nvSpPr>
        <p:spPr>
          <a:xfrm>
            <a:off x="609600" y="461020"/>
            <a:ext cx="10972800" cy="809761"/>
          </a:xfrm>
        </p:spPr>
        <p:txBody>
          <a:bodyPr/>
          <a:lstStyle/>
          <a:p>
            <a:r>
              <a:rPr lang="en-AU" dirty="0"/>
              <a:t>Accessibility Laws</a:t>
            </a:r>
          </a:p>
        </p:txBody>
      </p:sp>
      <p:sp>
        <p:nvSpPr>
          <p:cNvPr id="3" name="Content Placeholder 2">
            <a:extLst>
              <a:ext uri="{FF2B5EF4-FFF2-40B4-BE49-F238E27FC236}">
                <a16:creationId xmlns:a16="http://schemas.microsoft.com/office/drawing/2014/main" id="{8E1FAE83-47E3-C705-E7F0-5FE4F3429CB7}"/>
              </a:ext>
            </a:extLst>
          </p:cNvPr>
          <p:cNvSpPr>
            <a:spLocks noGrp="1"/>
          </p:cNvSpPr>
          <p:nvPr>
            <p:ph idx="1"/>
          </p:nvPr>
        </p:nvSpPr>
        <p:spPr>
          <a:xfrm>
            <a:off x="609600" y="1270781"/>
            <a:ext cx="10972800" cy="4563491"/>
          </a:xfrm>
        </p:spPr>
        <p:txBody>
          <a:bodyPr>
            <a:noAutofit/>
          </a:bodyPr>
          <a:lstStyle/>
          <a:p>
            <a:pPr marL="0" indent="0" algn="just">
              <a:buNone/>
            </a:pPr>
            <a:r>
              <a:rPr lang="en-US" sz="1800" dirty="0"/>
              <a:t>A government agency that uses a collaborative software platform for communication and information sharing between its employees, contractors, and members of the public. The software platform includes features such as document sharing, video conferencing, and online forums.</a:t>
            </a:r>
          </a:p>
          <a:p>
            <a:pPr marL="0" indent="0" algn="just">
              <a:buNone/>
            </a:pPr>
            <a:endParaRPr lang="en-US" sz="1800" dirty="0"/>
          </a:p>
          <a:p>
            <a:pPr marL="0" indent="0" algn="just">
              <a:buNone/>
            </a:pPr>
            <a:r>
              <a:rPr lang="en-US" sz="1800" dirty="0"/>
              <a:t>Under the Disability Discrimination Act, the government agency must ensure that its services, including the use of the collaborative software platform, are accessible to people with disabilities. This includes individuals who are blind or have visual impairments, deaf or hard of hearing, or mobility impairments, among others.</a:t>
            </a:r>
          </a:p>
          <a:p>
            <a:pPr marL="0" indent="0" algn="just">
              <a:buNone/>
            </a:pPr>
            <a:endParaRPr lang="en-US" sz="1800" dirty="0"/>
          </a:p>
          <a:p>
            <a:pPr marL="0" indent="0" algn="just">
              <a:buNone/>
            </a:pPr>
            <a:r>
              <a:rPr lang="en-US" sz="1800" dirty="0"/>
              <a:t>To comply with the DDA, the government agency must ensure that the software platform is designed with accessibility in mind, such as providing text-to-speech options for visually impaired users, closed captioning for deaf or hard of hearing users, and keyboard-only navigation for users with mobility impairments. The agency must also provide training and support to employees and contractors on how to use the platform in an accessible manner.</a:t>
            </a:r>
          </a:p>
          <a:p>
            <a:pPr marL="0" indent="0" algn="just">
              <a:buNone/>
            </a:pPr>
            <a:endParaRPr lang="en-US" sz="1800" dirty="0"/>
          </a:p>
          <a:p>
            <a:pPr marL="0" indent="0" algn="just">
              <a:buNone/>
            </a:pPr>
            <a:r>
              <a:rPr lang="en-US" sz="1800" dirty="0"/>
              <a:t>In this scenario, the DDA impacts the use of the collaborative software platform by informing the government agency's policies and practices for ensuring that its services, including the software platform, are accessible to people with disabilities.</a:t>
            </a:r>
          </a:p>
        </p:txBody>
      </p:sp>
    </p:spTree>
    <p:extLst>
      <p:ext uri="{BB962C8B-B14F-4D97-AF65-F5344CB8AC3E}">
        <p14:creationId xmlns:p14="http://schemas.microsoft.com/office/powerpoint/2010/main" val="1768331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91AD-05FE-E034-267B-8D1C7B1F58D5}"/>
              </a:ext>
            </a:extLst>
          </p:cNvPr>
          <p:cNvSpPr>
            <a:spLocks noGrp="1"/>
          </p:cNvSpPr>
          <p:nvPr>
            <p:ph type="title"/>
          </p:nvPr>
        </p:nvSpPr>
        <p:spPr/>
        <p:txBody>
          <a:bodyPr/>
          <a:lstStyle/>
          <a:p>
            <a:r>
              <a:rPr lang="en-AU" dirty="0"/>
              <a:t>Cybersecurity Laws</a:t>
            </a:r>
          </a:p>
        </p:txBody>
      </p:sp>
      <p:sp>
        <p:nvSpPr>
          <p:cNvPr id="3" name="Content Placeholder 2">
            <a:extLst>
              <a:ext uri="{FF2B5EF4-FFF2-40B4-BE49-F238E27FC236}">
                <a16:creationId xmlns:a16="http://schemas.microsoft.com/office/drawing/2014/main" id="{1AA9E841-63FB-294B-C9E6-84CC2A2926B1}"/>
              </a:ext>
            </a:extLst>
          </p:cNvPr>
          <p:cNvSpPr>
            <a:spLocks noGrp="1"/>
          </p:cNvSpPr>
          <p:nvPr>
            <p:ph idx="1"/>
          </p:nvPr>
        </p:nvSpPr>
        <p:spPr/>
        <p:txBody>
          <a:bodyPr>
            <a:normAutofit/>
          </a:bodyPr>
          <a:lstStyle/>
          <a:p>
            <a:pPr marL="0" indent="0" algn="just">
              <a:buNone/>
            </a:pPr>
            <a:r>
              <a:rPr lang="en-US" sz="3000" dirty="0"/>
              <a:t>Cybersecurity laws in Australia are governed by the Cyber Security Strategy 2015. The strategy aims to enhance the security of the Australian government's information and communications technology systems. </a:t>
            </a:r>
          </a:p>
          <a:p>
            <a:pPr marL="0" indent="0" algn="just">
              <a:buNone/>
            </a:pPr>
            <a:endParaRPr lang="en-US" sz="3000" dirty="0"/>
          </a:p>
          <a:p>
            <a:pPr marL="0" indent="0" algn="just">
              <a:buNone/>
            </a:pPr>
            <a:r>
              <a:rPr lang="en-US" sz="3000" dirty="0"/>
              <a:t>In the context of collaborative tools, this means that policies must be in place to ensure the security of data stored and shared using the tools.</a:t>
            </a:r>
            <a:endParaRPr lang="en-AU" sz="3000" dirty="0"/>
          </a:p>
        </p:txBody>
      </p:sp>
    </p:spTree>
    <p:extLst>
      <p:ext uri="{BB962C8B-B14F-4D97-AF65-F5344CB8AC3E}">
        <p14:creationId xmlns:p14="http://schemas.microsoft.com/office/powerpoint/2010/main" val="1641718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91AD-05FE-E034-267B-8D1C7B1F58D5}"/>
              </a:ext>
            </a:extLst>
          </p:cNvPr>
          <p:cNvSpPr>
            <a:spLocks noGrp="1"/>
          </p:cNvSpPr>
          <p:nvPr>
            <p:ph type="title"/>
          </p:nvPr>
        </p:nvSpPr>
        <p:spPr/>
        <p:txBody>
          <a:bodyPr/>
          <a:lstStyle/>
          <a:p>
            <a:r>
              <a:rPr lang="en-AU" dirty="0"/>
              <a:t>Cybersecurity Laws</a:t>
            </a:r>
          </a:p>
        </p:txBody>
      </p:sp>
      <p:sp>
        <p:nvSpPr>
          <p:cNvPr id="3" name="Content Placeholder 2">
            <a:extLst>
              <a:ext uri="{FF2B5EF4-FFF2-40B4-BE49-F238E27FC236}">
                <a16:creationId xmlns:a16="http://schemas.microsoft.com/office/drawing/2014/main" id="{1AA9E841-63FB-294B-C9E6-84CC2A2926B1}"/>
              </a:ext>
            </a:extLst>
          </p:cNvPr>
          <p:cNvSpPr>
            <a:spLocks noGrp="1"/>
          </p:cNvSpPr>
          <p:nvPr>
            <p:ph idx="1"/>
          </p:nvPr>
        </p:nvSpPr>
        <p:spPr/>
        <p:txBody>
          <a:bodyPr/>
          <a:lstStyle/>
          <a:p>
            <a:pPr marL="0" indent="0">
              <a:buNone/>
            </a:pPr>
            <a:r>
              <a:rPr lang="en-US" dirty="0">
                <a:hlinkClick r:id="rId2"/>
              </a:rPr>
              <a:t>https://www.cyber.gov.au/</a:t>
            </a:r>
            <a:r>
              <a:rPr lang="en-US" dirty="0"/>
              <a:t> </a:t>
            </a:r>
          </a:p>
          <a:p>
            <a:pPr marL="0" indent="0">
              <a:buNone/>
            </a:pPr>
            <a:endParaRPr lang="en-US" dirty="0"/>
          </a:p>
          <a:p>
            <a:pPr marL="0" indent="0">
              <a:buNone/>
            </a:pPr>
            <a:r>
              <a:rPr lang="en-AU" dirty="0">
                <a:hlinkClick r:id="rId3"/>
              </a:rPr>
              <a:t>https://www.cyber.gov.au/acsc/view-all-content/advice/using-information-security-manual</a:t>
            </a:r>
            <a:r>
              <a:rPr lang="en-US" dirty="0"/>
              <a:t> </a:t>
            </a:r>
          </a:p>
          <a:p>
            <a:pPr marL="0" indent="0">
              <a:buNone/>
            </a:pPr>
            <a:endParaRPr lang="en-AU" dirty="0"/>
          </a:p>
        </p:txBody>
      </p:sp>
      <p:pic>
        <p:nvPicPr>
          <p:cNvPr id="5" name="Picture 4">
            <a:extLst>
              <a:ext uri="{FF2B5EF4-FFF2-40B4-BE49-F238E27FC236}">
                <a16:creationId xmlns:a16="http://schemas.microsoft.com/office/drawing/2014/main" id="{07B04823-F213-8C2F-2A9A-615E29B8A31E}"/>
              </a:ext>
            </a:extLst>
          </p:cNvPr>
          <p:cNvPicPr>
            <a:picLocks noChangeAspect="1"/>
          </p:cNvPicPr>
          <p:nvPr/>
        </p:nvPicPr>
        <p:blipFill>
          <a:blip r:embed="rId4"/>
          <a:stretch>
            <a:fillRect/>
          </a:stretch>
        </p:blipFill>
        <p:spPr>
          <a:xfrm>
            <a:off x="2368987" y="4359729"/>
            <a:ext cx="7677983" cy="1998379"/>
          </a:xfrm>
          <a:prstGeom prst="rect">
            <a:avLst/>
          </a:prstGeom>
        </p:spPr>
      </p:pic>
    </p:spTree>
    <p:extLst>
      <p:ext uri="{BB962C8B-B14F-4D97-AF65-F5344CB8AC3E}">
        <p14:creationId xmlns:p14="http://schemas.microsoft.com/office/powerpoint/2010/main" val="3264828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91AD-05FE-E034-267B-8D1C7B1F58D5}"/>
              </a:ext>
            </a:extLst>
          </p:cNvPr>
          <p:cNvSpPr>
            <a:spLocks noGrp="1"/>
          </p:cNvSpPr>
          <p:nvPr>
            <p:ph type="title"/>
          </p:nvPr>
        </p:nvSpPr>
        <p:spPr/>
        <p:txBody>
          <a:bodyPr/>
          <a:lstStyle/>
          <a:p>
            <a:r>
              <a:rPr lang="en-AU" dirty="0"/>
              <a:t>Cybersecurity Laws</a:t>
            </a:r>
          </a:p>
        </p:txBody>
      </p:sp>
      <p:sp>
        <p:nvSpPr>
          <p:cNvPr id="3" name="Content Placeholder 2">
            <a:extLst>
              <a:ext uri="{FF2B5EF4-FFF2-40B4-BE49-F238E27FC236}">
                <a16:creationId xmlns:a16="http://schemas.microsoft.com/office/drawing/2014/main" id="{1AA9E841-63FB-294B-C9E6-84CC2A2926B1}"/>
              </a:ext>
            </a:extLst>
          </p:cNvPr>
          <p:cNvSpPr>
            <a:spLocks noGrp="1"/>
          </p:cNvSpPr>
          <p:nvPr>
            <p:ph idx="1"/>
          </p:nvPr>
        </p:nvSpPr>
        <p:spPr/>
        <p:txBody>
          <a:bodyPr/>
          <a:lstStyle/>
          <a:p>
            <a:pPr marL="0" indent="0" algn="just">
              <a:buNone/>
            </a:pPr>
            <a:r>
              <a:rPr lang="en-AU" dirty="0"/>
              <a:t>How does cybersecurity law impact the use of collaborative software?</a:t>
            </a:r>
          </a:p>
          <a:p>
            <a:pPr marL="0" indent="0" algn="just">
              <a:buNone/>
            </a:pPr>
            <a:endParaRPr lang="en-AU" dirty="0"/>
          </a:p>
          <a:p>
            <a:pPr marL="0" indent="0" algn="just">
              <a:buNone/>
            </a:pPr>
            <a:r>
              <a:rPr lang="en-AU" dirty="0"/>
              <a:t>How might the cyber security laws impact a financial institution and the way they store data?</a:t>
            </a:r>
          </a:p>
          <a:p>
            <a:pPr marL="0" indent="0">
              <a:buNone/>
            </a:pPr>
            <a:endParaRPr lang="en-AU" dirty="0"/>
          </a:p>
        </p:txBody>
      </p:sp>
    </p:spTree>
    <p:extLst>
      <p:ext uri="{BB962C8B-B14F-4D97-AF65-F5344CB8AC3E}">
        <p14:creationId xmlns:p14="http://schemas.microsoft.com/office/powerpoint/2010/main" val="780323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91AD-05FE-E034-267B-8D1C7B1F58D5}"/>
              </a:ext>
            </a:extLst>
          </p:cNvPr>
          <p:cNvSpPr>
            <a:spLocks noGrp="1"/>
          </p:cNvSpPr>
          <p:nvPr>
            <p:ph type="title"/>
          </p:nvPr>
        </p:nvSpPr>
        <p:spPr/>
        <p:txBody>
          <a:bodyPr/>
          <a:lstStyle/>
          <a:p>
            <a:r>
              <a:rPr lang="en-AU" dirty="0"/>
              <a:t>Cybersecurity Laws</a:t>
            </a:r>
          </a:p>
        </p:txBody>
      </p:sp>
      <p:sp>
        <p:nvSpPr>
          <p:cNvPr id="3" name="Content Placeholder 2">
            <a:extLst>
              <a:ext uri="{FF2B5EF4-FFF2-40B4-BE49-F238E27FC236}">
                <a16:creationId xmlns:a16="http://schemas.microsoft.com/office/drawing/2014/main" id="{1AA9E841-63FB-294B-C9E6-84CC2A2926B1}"/>
              </a:ext>
            </a:extLst>
          </p:cNvPr>
          <p:cNvSpPr>
            <a:spLocks noGrp="1"/>
          </p:cNvSpPr>
          <p:nvPr>
            <p:ph idx="1"/>
          </p:nvPr>
        </p:nvSpPr>
        <p:spPr>
          <a:xfrm>
            <a:off x="609600" y="1607737"/>
            <a:ext cx="10972800" cy="5044272"/>
          </a:xfrm>
        </p:spPr>
        <p:txBody>
          <a:bodyPr>
            <a:normAutofit/>
          </a:bodyPr>
          <a:lstStyle/>
          <a:p>
            <a:pPr marL="0" indent="0" algn="just">
              <a:buNone/>
            </a:pPr>
            <a:r>
              <a:rPr lang="en-US" sz="1600" dirty="0"/>
              <a:t>A financial institution that uses a collaborative software platform for communication and information sharing between its employees and partners. The software platform allows users to store and share sensitive financial information, such as client data, financial transactions, and confidential business information.</a:t>
            </a:r>
          </a:p>
          <a:p>
            <a:pPr marL="0" indent="0" algn="just">
              <a:buNone/>
            </a:pPr>
            <a:endParaRPr lang="en-US" sz="1600" dirty="0"/>
          </a:p>
          <a:p>
            <a:pPr marL="0" indent="0" algn="just">
              <a:buNone/>
            </a:pPr>
            <a:r>
              <a:rPr lang="en-US" sz="1600" dirty="0"/>
              <a:t>Under cyber security laws in Australia, the financial institution must ensure that appropriate measures are in place to protect the sensitive information stored and shared through the collaborative software platform. This includes complying with the mandatory data breach notification requirements under the Privacy Act 1988 and the Cybersecurity Information Sharing Act 2015.</a:t>
            </a:r>
          </a:p>
          <a:p>
            <a:pPr marL="0" indent="0" algn="just">
              <a:buNone/>
            </a:pPr>
            <a:endParaRPr lang="en-US" sz="1600" dirty="0"/>
          </a:p>
          <a:p>
            <a:pPr marL="0" indent="0" algn="just">
              <a:buNone/>
            </a:pPr>
            <a:r>
              <a:rPr lang="en-US" sz="1600" dirty="0"/>
              <a:t>Additionally, the financial institution must implement robust cybersecurity measures to protect against cyber threats, such as malware attacks, phishing scams, and unauthorized access to sensitive information. This could include implementing firewalls, encryption technologies, and regular security updates for the software platform. The institution must also have policies in place for employees to follow when using the platform, such as avoiding the use of personal devices for work purposes and not sharing login credentials.</a:t>
            </a:r>
          </a:p>
          <a:p>
            <a:pPr marL="0" indent="0" algn="just">
              <a:buNone/>
            </a:pPr>
            <a:endParaRPr lang="en-US" sz="1600" dirty="0"/>
          </a:p>
          <a:p>
            <a:pPr marL="0" indent="0" algn="just">
              <a:buNone/>
            </a:pPr>
            <a:r>
              <a:rPr lang="en-US" sz="1600" dirty="0"/>
              <a:t>In this scenario, the cyber security laws of Australia affect the usage of the collaborative software platform by informing the financial institution's policies and practices for ensuring the security and protection of sensitive financial information stored and shared through the platform.</a:t>
            </a:r>
            <a:endParaRPr lang="en-AU" sz="1600" dirty="0"/>
          </a:p>
        </p:txBody>
      </p:sp>
    </p:spTree>
    <p:extLst>
      <p:ext uri="{BB962C8B-B14F-4D97-AF65-F5344CB8AC3E}">
        <p14:creationId xmlns:p14="http://schemas.microsoft.com/office/powerpoint/2010/main" val="1326250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8A403-A944-C3BA-D38F-660EC18C1D43}"/>
              </a:ext>
            </a:extLst>
          </p:cNvPr>
          <p:cNvSpPr>
            <a:spLocks noGrp="1"/>
          </p:cNvSpPr>
          <p:nvPr>
            <p:ph type="title"/>
          </p:nvPr>
        </p:nvSpPr>
        <p:spPr/>
        <p:txBody>
          <a:bodyPr/>
          <a:lstStyle/>
          <a:p>
            <a:r>
              <a:rPr lang="en-AU" dirty="0"/>
              <a:t>Company Policies</a:t>
            </a:r>
          </a:p>
        </p:txBody>
      </p:sp>
      <p:sp>
        <p:nvSpPr>
          <p:cNvPr id="5" name="Text Placeholder 4">
            <a:extLst>
              <a:ext uri="{FF2B5EF4-FFF2-40B4-BE49-F238E27FC236}">
                <a16:creationId xmlns:a16="http://schemas.microsoft.com/office/drawing/2014/main" id="{AD4EA362-BD44-17F2-1AF7-198B35B8DFB5}"/>
              </a:ext>
            </a:extLst>
          </p:cNvPr>
          <p:cNvSpPr>
            <a:spLocks noGrp="1"/>
          </p:cNvSpPr>
          <p:nvPr>
            <p:ph type="body" idx="1"/>
          </p:nvPr>
        </p:nvSpPr>
        <p:spPr/>
        <p:txBody>
          <a:bodyPr/>
          <a:lstStyle/>
          <a:p>
            <a:r>
              <a:rPr lang="en-AU" dirty="0"/>
              <a:t>Collaborative Software</a:t>
            </a:r>
          </a:p>
        </p:txBody>
      </p:sp>
    </p:spTree>
    <p:extLst>
      <p:ext uri="{BB962C8B-B14F-4D97-AF65-F5344CB8AC3E}">
        <p14:creationId xmlns:p14="http://schemas.microsoft.com/office/powerpoint/2010/main" val="278313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0F1FB-E539-651F-9C3E-BC2B9381AAEA}"/>
              </a:ext>
            </a:extLst>
          </p:cNvPr>
          <p:cNvSpPr>
            <a:spLocks noGrp="1"/>
          </p:cNvSpPr>
          <p:nvPr>
            <p:ph type="title"/>
          </p:nvPr>
        </p:nvSpPr>
        <p:spPr>
          <a:xfrm>
            <a:off x="609600" y="851584"/>
            <a:ext cx="10972800" cy="1003205"/>
          </a:xfrm>
        </p:spPr>
        <p:txBody>
          <a:bodyPr>
            <a:normAutofit fontScale="90000"/>
          </a:bodyPr>
          <a:lstStyle/>
          <a:p>
            <a:r>
              <a:rPr lang="en-AU" dirty="0"/>
              <a:t>Company Policies Governing Collaborative Software</a:t>
            </a:r>
          </a:p>
        </p:txBody>
      </p:sp>
      <p:sp>
        <p:nvSpPr>
          <p:cNvPr id="5" name="Content Placeholder 4">
            <a:extLst>
              <a:ext uri="{FF2B5EF4-FFF2-40B4-BE49-F238E27FC236}">
                <a16:creationId xmlns:a16="http://schemas.microsoft.com/office/drawing/2014/main" id="{4DDB0838-2719-6172-20F0-FB31034FD53D}"/>
              </a:ext>
            </a:extLst>
          </p:cNvPr>
          <p:cNvSpPr>
            <a:spLocks noGrp="1"/>
          </p:cNvSpPr>
          <p:nvPr>
            <p:ph idx="1"/>
          </p:nvPr>
        </p:nvSpPr>
        <p:spPr>
          <a:xfrm>
            <a:off x="609600" y="2572378"/>
            <a:ext cx="10972800" cy="3735488"/>
          </a:xfrm>
        </p:spPr>
        <p:txBody>
          <a:bodyPr>
            <a:normAutofit lnSpcReduction="10000"/>
          </a:bodyPr>
          <a:lstStyle/>
          <a:p>
            <a:pPr marL="0" indent="0">
              <a:buNone/>
            </a:pPr>
            <a:r>
              <a:rPr lang="en-AU" sz="3000" dirty="0"/>
              <a:t>Some example policies include:</a:t>
            </a:r>
          </a:p>
          <a:p>
            <a:pPr marL="0" indent="0">
              <a:buNone/>
            </a:pPr>
            <a:endParaRPr lang="en-AU" sz="3000" dirty="0"/>
          </a:p>
          <a:p>
            <a:pPr marL="514350" indent="-514350">
              <a:buFont typeface="+mj-lt"/>
              <a:buAutoNum type="arabicPeriod"/>
            </a:pPr>
            <a:r>
              <a:rPr lang="en-AU" sz="3000" dirty="0"/>
              <a:t>Acceptable Use Policy</a:t>
            </a:r>
          </a:p>
          <a:p>
            <a:pPr marL="514350" indent="-514350">
              <a:buFont typeface="+mj-lt"/>
              <a:buAutoNum type="arabicPeriod"/>
            </a:pPr>
            <a:r>
              <a:rPr lang="en-AU" sz="3000" dirty="0"/>
              <a:t>Data Protection Policy</a:t>
            </a:r>
          </a:p>
          <a:p>
            <a:pPr marL="514350" indent="-514350">
              <a:buFont typeface="+mj-lt"/>
              <a:buAutoNum type="arabicPeriod"/>
            </a:pPr>
            <a:r>
              <a:rPr lang="en-AU" sz="3000" dirty="0"/>
              <a:t>Intellectual Property</a:t>
            </a:r>
          </a:p>
          <a:p>
            <a:pPr marL="514350" indent="-514350">
              <a:buFont typeface="+mj-lt"/>
              <a:buAutoNum type="arabicPeriod"/>
            </a:pPr>
            <a:r>
              <a:rPr lang="en-AU" sz="3000" dirty="0"/>
              <a:t>Accessibility Policy</a:t>
            </a:r>
          </a:p>
          <a:p>
            <a:pPr marL="514350" indent="-514350">
              <a:buFont typeface="+mj-lt"/>
              <a:buAutoNum type="arabicPeriod"/>
            </a:pPr>
            <a:r>
              <a:rPr lang="en-AU" sz="3000" dirty="0"/>
              <a:t>Cybersecurity Policy</a:t>
            </a:r>
          </a:p>
        </p:txBody>
      </p:sp>
    </p:spTree>
    <p:extLst>
      <p:ext uri="{BB962C8B-B14F-4D97-AF65-F5344CB8AC3E}">
        <p14:creationId xmlns:p14="http://schemas.microsoft.com/office/powerpoint/2010/main" val="2188602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0F1FB-E539-651F-9C3E-BC2B9381AAEA}"/>
              </a:ext>
            </a:extLst>
          </p:cNvPr>
          <p:cNvSpPr>
            <a:spLocks noGrp="1"/>
          </p:cNvSpPr>
          <p:nvPr>
            <p:ph type="title"/>
          </p:nvPr>
        </p:nvSpPr>
        <p:spPr>
          <a:xfrm>
            <a:off x="609600" y="620472"/>
            <a:ext cx="10972800" cy="1003205"/>
          </a:xfrm>
        </p:spPr>
        <p:txBody>
          <a:bodyPr>
            <a:normAutofit fontScale="90000"/>
          </a:bodyPr>
          <a:lstStyle/>
          <a:p>
            <a:r>
              <a:rPr lang="en-AU" dirty="0"/>
              <a:t>Company Policies Governing Collaborative Software</a:t>
            </a:r>
          </a:p>
        </p:txBody>
      </p:sp>
      <p:sp>
        <p:nvSpPr>
          <p:cNvPr id="5" name="Content Placeholder 4">
            <a:extLst>
              <a:ext uri="{FF2B5EF4-FFF2-40B4-BE49-F238E27FC236}">
                <a16:creationId xmlns:a16="http://schemas.microsoft.com/office/drawing/2014/main" id="{4DDB0838-2719-6172-20F0-FB31034FD53D}"/>
              </a:ext>
            </a:extLst>
          </p:cNvPr>
          <p:cNvSpPr>
            <a:spLocks noGrp="1"/>
          </p:cNvSpPr>
          <p:nvPr>
            <p:ph idx="1"/>
          </p:nvPr>
        </p:nvSpPr>
        <p:spPr>
          <a:xfrm>
            <a:off x="609600" y="1999622"/>
            <a:ext cx="10972800" cy="4358486"/>
          </a:xfrm>
        </p:spPr>
        <p:txBody>
          <a:bodyPr>
            <a:normAutofit/>
          </a:bodyPr>
          <a:lstStyle/>
          <a:p>
            <a:pPr marL="0" indent="0" algn="just">
              <a:buNone/>
            </a:pPr>
            <a:r>
              <a:rPr lang="en-US" sz="2400" b="1" dirty="0"/>
              <a:t>1. Acceptable Use Policy: </a:t>
            </a:r>
            <a:r>
              <a:rPr lang="en-US" sz="2400" dirty="0"/>
              <a:t>This policy outlines the acceptable behaviors and actions for employees when using the collaborative software platform. It could include rules on using the platform for work purposes only, avoiding the use of personal devices, and not sharing login credentials.</a:t>
            </a:r>
          </a:p>
          <a:p>
            <a:pPr marL="0" indent="0" algn="just">
              <a:buNone/>
            </a:pPr>
            <a:endParaRPr lang="en-US" sz="2400" dirty="0"/>
          </a:p>
          <a:p>
            <a:pPr marL="0" indent="0" algn="just">
              <a:buNone/>
            </a:pPr>
            <a:r>
              <a:rPr lang="en-US" sz="2400" b="1" dirty="0"/>
              <a:t>2. Data Protection Policy: </a:t>
            </a:r>
            <a:r>
              <a:rPr lang="en-US" sz="2400" dirty="0"/>
              <a:t>This policy outlines the company's approach to protecting sensitive information stored and shared through the collaborative software platform. It could include requirements for encryption technologies, restricting access to sensitive data, and regularly monitoring the platform for any unauthorized access or breaches.</a:t>
            </a:r>
            <a:endParaRPr lang="en-AU" sz="2400" dirty="0"/>
          </a:p>
        </p:txBody>
      </p:sp>
    </p:spTree>
    <p:extLst>
      <p:ext uri="{BB962C8B-B14F-4D97-AF65-F5344CB8AC3E}">
        <p14:creationId xmlns:p14="http://schemas.microsoft.com/office/powerpoint/2010/main" val="2206948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0F1FB-E539-651F-9C3E-BC2B9381AAEA}"/>
              </a:ext>
            </a:extLst>
          </p:cNvPr>
          <p:cNvSpPr>
            <a:spLocks noGrp="1"/>
          </p:cNvSpPr>
          <p:nvPr>
            <p:ph type="title"/>
          </p:nvPr>
        </p:nvSpPr>
        <p:spPr>
          <a:xfrm>
            <a:off x="609600" y="660665"/>
            <a:ext cx="10972800" cy="1003205"/>
          </a:xfrm>
        </p:spPr>
        <p:txBody>
          <a:bodyPr>
            <a:normAutofit fontScale="90000"/>
          </a:bodyPr>
          <a:lstStyle/>
          <a:p>
            <a:r>
              <a:rPr lang="en-AU" dirty="0"/>
              <a:t>Company Policies Governing Collaborative Software</a:t>
            </a:r>
          </a:p>
        </p:txBody>
      </p:sp>
      <p:sp>
        <p:nvSpPr>
          <p:cNvPr id="5" name="Content Placeholder 4">
            <a:extLst>
              <a:ext uri="{FF2B5EF4-FFF2-40B4-BE49-F238E27FC236}">
                <a16:creationId xmlns:a16="http://schemas.microsoft.com/office/drawing/2014/main" id="{4DDB0838-2719-6172-20F0-FB31034FD53D}"/>
              </a:ext>
            </a:extLst>
          </p:cNvPr>
          <p:cNvSpPr>
            <a:spLocks noGrp="1"/>
          </p:cNvSpPr>
          <p:nvPr>
            <p:ph idx="1"/>
          </p:nvPr>
        </p:nvSpPr>
        <p:spPr>
          <a:xfrm>
            <a:off x="609600" y="2059912"/>
            <a:ext cx="10972800" cy="4418776"/>
          </a:xfrm>
        </p:spPr>
        <p:txBody>
          <a:bodyPr>
            <a:normAutofit fontScale="92500"/>
          </a:bodyPr>
          <a:lstStyle/>
          <a:p>
            <a:pPr marL="0" indent="0" algn="just">
              <a:buNone/>
            </a:pPr>
            <a:r>
              <a:rPr lang="en-US" sz="2800" b="1" dirty="0"/>
              <a:t>3. Intellectual Property Policy: </a:t>
            </a:r>
            <a:r>
              <a:rPr lang="en-US" sz="2800" dirty="0"/>
              <a:t>This policy outlines the company's approach to protecting and managing intellectual property created using the collaborative software platform. It could include rules on who owns the intellectual property and how it may be used and shared.</a:t>
            </a:r>
          </a:p>
          <a:p>
            <a:pPr marL="0" indent="0" algn="just">
              <a:buNone/>
            </a:pPr>
            <a:endParaRPr lang="en-US" sz="2800" dirty="0"/>
          </a:p>
          <a:p>
            <a:pPr marL="0" indent="0" algn="just">
              <a:buNone/>
            </a:pPr>
            <a:r>
              <a:rPr lang="en-US" sz="2800" b="1" dirty="0"/>
              <a:t>4. Accessibility Policy: </a:t>
            </a:r>
            <a:r>
              <a:rPr lang="en-US" sz="2800" dirty="0"/>
              <a:t>This policy outlines the company's approach to ensuring that the collaborative software platform is accessible to people with disabilities. It could include requirements for accessibility features, such as text-to-speech options, closed captioning, and keyboard-only navigation.</a:t>
            </a:r>
            <a:endParaRPr lang="en-AU" sz="2800" dirty="0"/>
          </a:p>
        </p:txBody>
      </p:sp>
    </p:spTree>
    <p:extLst>
      <p:ext uri="{BB962C8B-B14F-4D97-AF65-F5344CB8AC3E}">
        <p14:creationId xmlns:p14="http://schemas.microsoft.com/office/powerpoint/2010/main" val="3888905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0F1FB-E539-651F-9C3E-BC2B9381AAEA}"/>
              </a:ext>
            </a:extLst>
          </p:cNvPr>
          <p:cNvSpPr>
            <a:spLocks noGrp="1"/>
          </p:cNvSpPr>
          <p:nvPr>
            <p:ph type="title"/>
          </p:nvPr>
        </p:nvSpPr>
        <p:spPr>
          <a:xfrm>
            <a:off x="609600" y="1012357"/>
            <a:ext cx="10972800" cy="1003205"/>
          </a:xfrm>
        </p:spPr>
        <p:txBody>
          <a:bodyPr>
            <a:normAutofit fontScale="90000"/>
          </a:bodyPr>
          <a:lstStyle/>
          <a:p>
            <a:r>
              <a:rPr lang="en-AU" dirty="0"/>
              <a:t>Company Policies Governing Collaborative Software</a:t>
            </a:r>
          </a:p>
        </p:txBody>
      </p:sp>
      <p:sp>
        <p:nvSpPr>
          <p:cNvPr id="5" name="Content Placeholder 4">
            <a:extLst>
              <a:ext uri="{FF2B5EF4-FFF2-40B4-BE49-F238E27FC236}">
                <a16:creationId xmlns:a16="http://schemas.microsoft.com/office/drawing/2014/main" id="{4DDB0838-2719-6172-20F0-FB31034FD53D}"/>
              </a:ext>
            </a:extLst>
          </p:cNvPr>
          <p:cNvSpPr>
            <a:spLocks noGrp="1"/>
          </p:cNvSpPr>
          <p:nvPr>
            <p:ph idx="1"/>
          </p:nvPr>
        </p:nvSpPr>
        <p:spPr>
          <a:xfrm>
            <a:off x="609600" y="2733152"/>
            <a:ext cx="10972800" cy="3624956"/>
          </a:xfrm>
        </p:spPr>
        <p:txBody>
          <a:bodyPr>
            <a:normAutofit/>
          </a:bodyPr>
          <a:lstStyle/>
          <a:p>
            <a:pPr marL="0" indent="0" algn="just">
              <a:buNone/>
            </a:pPr>
            <a:r>
              <a:rPr lang="en-US" sz="3000" b="1" dirty="0"/>
              <a:t>5. Cybersecurity Policy: </a:t>
            </a:r>
            <a:r>
              <a:rPr lang="en-US" sz="3000" dirty="0"/>
              <a:t>This policy outlines the company's approach to protecting against cyber threats, such as malware attacks, phishing scams, and unauthorized access to sensitive information. It could include requirements for firewalls, encryption technologies, and regular security updates.</a:t>
            </a:r>
            <a:endParaRPr lang="en-AU" sz="3000" dirty="0"/>
          </a:p>
        </p:txBody>
      </p:sp>
    </p:spTree>
    <p:extLst>
      <p:ext uri="{BB962C8B-B14F-4D97-AF65-F5344CB8AC3E}">
        <p14:creationId xmlns:p14="http://schemas.microsoft.com/office/powerpoint/2010/main" val="1253468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0F1FB-E539-651F-9C3E-BC2B9381AAEA}"/>
              </a:ext>
            </a:extLst>
          </p:cNvPr>
          <p:cNvSpPr>
            <a:spLocks noGrp="1"/>
          </p:cNvSpPr>
          <p:nvPr>
            <p:ph type="title"/>
          </p:nvPr>
        </p:nvSpPr>
        <p:spPr>
          <a:xfrm>
            <a:off x="609600" y="690810"/>
            <a:ext cx="10972800" cy="1003205"/>
          </a:xfrm>
        </p:spPr>
        <p:txBody>
          <a:bodyPr>
            <a:normAutofit fontScale="90000"/>
          </a:bodyPr>
          <a:lstStyle/>
          <a:p>
            <a:r>
              <a:rPr lang="en-AU" dirty="0"/>
              <a:t>Company Policies Governing Collaborative Software</a:t>
            </a:r>
          </a:p>
        </p:txBody>
      </p:sp>
      <p:sp>
        <p:nvSpPr>
          <p:cNvPr id="5" name="Content Placeholder 4">
            <a:extLst>
              <a:ext uri="{FF2B5EF4-FFF2-40B4-BE49-F238E27FC236}">
                <a16:creationId xmlns:a16="http://schemas.microsoft.com/office/drawing/2014/main" id="{4DDB0838-2719-6172-20F0-FB31034FD53D}"/>
              </a:ext>
            </a:extLst>
          </p:cNvPr>
          <p:cNvSpPr>
            <a:spLocks noGrp="1"/>
          </p:cNvSpPr>
          <p:nvPr>
            <p:ph idx="1"/>
          </p:nvPr>
        </p:nvSpPr>
        <p:spPr>
          <a:xfrm>
            <a:off x="609600" y="2140299"/>
            <a:ext cx="10972800" cy="4298196"/>
          </a:xfrm>
        </p:spPr>
        <p:txBody>
          <a:bodyPr>
            <a:normAutofit fontScale="92500" lnSpcReduction="20000"/>
          </a:bodyPr>
          <a:lstStyle/>
          <a:p>
            <a:pPr marL="0" indent="0" algn="just">
              <a:buNone/>
            </a:pPr>
            <a:r>
              <a:rPr lang="en-US" sz="3000" dirty="0"/>
              <a:t>As a group, find two examples of each policy listed (one government, one private) and locate the sections which apply to the use of collaborative software. Provide the URL and a screenshot of the relevant section. </a:t>
            </a:r>
            <a:r>
              <a:rPr lang="en-US" sz="3000" b="1" dirty="0">
                <a:solidFill>
                  <a:schemeClr val="accent5">
                    <a:lumMod val="60000"/>
                    <a:lumOff val="40000"/>
                  </a:schemeClr>
                </a:solidFill>
              </a:rPr>
              <a:t>Submit to BB.</a:t>
            </a:r>
          </a:p>
          <a:p>
            <a:pPr marL="0" indent="0">
              <a:buNone/>
            </a:pPr>
            <a:endParaRPr lang="en-US" sz="3000" dirty="0"/>
          </a:p>
          <a:p>
            <a:pPr marL="514350" indent="-514350">
              <a:buFont typeface="+mj-lt"/>
              <a:buAutoNum type="arabicPeriod"/>
            </a:pPr>
            <a:r>
              <a:rPr lang="en-AU" sz="3000" dirty="0"/>
              <a:t>Acceptable Use Policy</a:t>
            </a:r>
          </a:p>
          <a:p>
            <a:pPr marL="514350" indent="-514350">
              <a:buFont typeface="+mj-lt"/>
              <a:buAutoNum type="arabicPeriod"/>
            </a:pPr>
            <a:r>
              <a:rPr lang="en-AU" sz="3000" dirty="0"/>
              <a:t>Data Protection Policy</a:t>
            </a:r>
          </a:p>
          <a:p>
            <a:pPr marL="514350" indent="-514350">
              <a:buFont typeface="+mj-lt"/>
              <a:buAutoNum type="arabicPeriod"/>
            </a:pPr>
            <a:r>
              <a:rPr lang="en-AU" sz="3000" dirty="0"/>
              <a:t>Intellectual Property</a:t>
            </a:r>
          </a:p>
          <a:p>
            <a:pPr marL="514350" indent="-514350">
              <a:buFont typeface="+mj-lt"/>
              <a:buAutoNum type="arabicPeriod"/>
            </a:pPr>
            <a:r>
              <a:rPr lang="en-AU" sz="3000" dirty="0"/>
              <a:t>Accessibility Policy</a:t>
            </a:r>
          </a:p>
          <a:p>
            <a:pPr marL="514350" indent="-514350">
              <a:buFont typeface="+mj-lt"/>
              <a:buAutoNum type="arabicPeriod"/>
            </a:pPr>
            <a:r>
              <a:rPr lang="en-AU" sz="3000" dirty="0"/>
              <a:t>Cybersecurity Policy</a:t>
            </a:r>
          </a:p>
          <a:p>
            <a:pPr marL="0" indent="0">
              <a:buNone/>
            </a:pPr>
            <a:endParaRPr lang="en-AU" dirty="0"/>
          </a:p>
        </p:txBody>
      </p:sp>
    </p:spTree>
    <p:extLst>
      <p:ext uri="{BB962C8B-B14F-4D97-AF65-F5344CB8AC3E}">
        <p14:creationId xmlns:p14="http://schemas.microsoft.com/office/powerpoint/2010/main" val="2155275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8A403-A944-C3BA-D38F-660EC18C1D43}"/>
              </a:ext>
            </a:extLst>
          </p:cNvPr>
          <p:cNvSpPr>
            <a:spLocks noGrp="1"/>
          </p:cNvSpPr>
          <p:nvPr>
            <p:ph type="title"/>
          </p:nvPr>
        </p:nvSpPr>
        <p:spPr/>
        <p:txBody>
          <a:bodyPr/>
          <a:lstStyle/>
          <a:p>
            <a:r>
              <a:rPr lang="en-AU" dirty="0"/>
              <a:t>Best Practice and protocols</a:t>
            </a:r>
          </a:p>
        </p:txBody>
      </p:sp>
      <p:sp>
        <p:nvSpPr>
          <p:cNvPr id="5" name="Text Placeholder 4">
            <a:extLst>
              <a:ext uri="{FF2B5EF4-FFF2-40B4-BE49-F238E27FC236}">
                <a16:creationId xmlns:a16="http://schemas.microsoft.com/office/drawing/2014/main" id="{AD4EA362-BD44-17F2-1AF7-198B35B8DFB5}"/>
              </a:ext>
            </a:extLst>
          </p:cNvPr>
          <p:cNvSpPr>
            <a:spLocks noGrp="1"/>
          </p:cNvSpPr>
          <p:nvPr>
            <p:ph type="body" idx="1"/>
          </p:nvPr>
        </p:nvSpPr>
        <p:spPr/>
        <p:txBody>
          <a:bodyPr/>
          <a:lstStyle/>
          <a:p>
            <a:r>
              <a:rPr lang="en-AU" dirty="0"/>
              <a:t>Collaborative Software</a:t>
            </a:r>
          </a:p>
        </p:txBody>
      </p:sp>
    </p:spTree>
    <p:extLst>
      <p:ext uri="{BB962C8B-B14F-4D97-AF65-F5344CB8AC3E}">
        <p14:creationId xmlns:p14="http://schemas.microsoft.com/office/powerpoint/2010/main" val="658188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EAC522-EDA8-9FBC-46E4-058107508E60}"/>
              </a:ext>
            </a:extLst>
          </p:cNvPr>
          <p:cNvSpPr>
            <a:spLocks noGrp="1"/>
          </p:cNvSpPr>
          <p:nvPr>
            <p:ph type="title"/>
          </p:nvPr>
        </p:nvSpPr>
        <p:spPr>
          <a:xfrm>
            <a:off x="609600" y="630521"/>
            <a:ext cx="10972800" cy="1003205"/>
          </a:xfrm>
        </p:spPr>
        <p:txBody>
          <a:bodyPr>
            <a:normAutofit fontScale="90000"/>
          </a:bodyPr>
          <a:lstStyle/>
          <a:p>
            <a:r>
              <a:rPr lang="en-AU" dirty="0"/>
              <a:t>Developing Protocols for Collaborative Software</a:t>
            </a:r>
          </a:p>
        </p:txBody>
      </p:sp>
      <p:sp>
        <p:nvSpPr>
          <p:cNvPr id="5" name="Content Placeholder 4">
            <a:extLst>
              <a:ext uri="{FF2B5EF4-FFF2-40B4-BE49-F238E27FC236}">
                <a16:creationId xmlns:a16="http://schemas.microsoft.com/office/drawing/2014/main" id="{C8A7B611-8F2C-BA9F-89C6-EE5527B0E3E1}"/>
              </a:ext>
            </a:extLst>
          </p:cNvPr>
          <p:cNvSpPr>
            <a:spLocks noGrp="1"/>
          </p:cNvSpPr>
          <p:nvPr>
            <p:ph idx="1"/>
          </p:nvPr>
        </p:nvSpPr>
        <p:spPr>
          <a:xfrm>
            <a:off x="609600" y="2150347"/>
            <a:ext cx="10972800" cy="4207761"/>
          </a:xfrm>
        </p:spPr>
        <p:txBody>
          <a:bodyPr>
            <a:normAutofit fontScale="92500" lnSpcReduction="20000"/>
          </a:bodyPr>
          <a:lstStyle/>
          <a:p>
            <a:pPr marL="0" indent="0" algn="just">
              <a:buNone/>
            </a:pPr>
            <a:r>
              <a:rPr lang="en-AU" dirty="0"/>
              <a:t>Some examples of protocols used to effectively utilise collaborative software include:</a:t>
            </a:r>
          </a:p>
          <a:p>
            <a:pPr marL="0" indent="0" algn="just">
              <a:buNone/>
            </a:pPr>
            <a:endParaRPr lang="en-AU" dirty="0"/>
          </a:p>
          <a:p>
            <a:pPr marL="971550" lvl="1" indent="-514350" algn="just">
              <a:buFont typeface="+mj-lt"/>
              <a:buAutoNum type="arabicPeriod"/>
            </a:pPr>
            <a:r>
              <a:rPr lang="en-AU" dirty="0"/>
              <a:t>Scheduled regular meetings</a:t>
            </a:r>
          </a:p>
          <a:p>
            <a:pPr marL="971550" lvl="1" indent="-514350" algn="just">
              <a:buFont typeface="+mj-lt"/>
              <a:buAutoNum type="arabicPeriod"/>
            </a:pPr>
            <a:r>
              <a:rPr lang="en-AU" dirty="0"/>
              <a:t>Shared documents</a:t>
            </a:r>
          </a:p>
          <a:p>
            <a:pPr marL="971550" lvl="1" indent="-514350" algn="just">
              <a:buFont typeface="+mj-lt"/>
              <a:buAutoNum type="arabicPeriod"/>
            </a:pPr>
            <a:r>
              <a:rPr lang="en-AU" dirty="0"/>
              <a:t>Task management systems</a:t>
            </a:r>
          </a:p>
          <a:p>
            <a:pPr marL="971550" lvl="1" indent="-514350" algn="just">
              <a:buFont typeface="+mj-lt"/>
              <a:buAutoNum type="arabicPeriod"/>
            </a:pPr>
            <a:r>
              <a:rPr lang="en-AU" dirty="0"/>
              <a:t>Establish communication channels</a:t>
            </a:r>
          </a:p>
          <a:p>
            <a:pPr marL="971550" lvl="1" indent="-514350" algn="just">
              <a:buFont typeface="+mj-lt"/>
              <a:buAutoNum type="arabicPeriod"/>
            </a:pPr>
            <a:r>
              <a:rPr lang="en-AU" dirty="0"/>
              <a:t>File sharing</a:t>
            </a:r>
          </a:p>
          <a:p>
            <a:pPr marL="971550" lvl="1" indent="-514350">
              <a:buFont typeface="+mj-lt"/>
              <a:buAutoNum type="arabicPeriod"/>
            </a:pPr>
            <a:r>
              <a:rPr lang="en-AU" dirty="0"/>
              <a:t>Time management</a:t>
            </a:r>
          </a:p>
          <a:p>
            <a:pPr marL="971550" lvl="1" indent="-514350">
              <a:buFont typeface="+mj-lt"/>
              <a:buAutoNum type="arabicPeriod"/>
            </a:pPr>
            <a:r>
              <a:rPr lang="en-AU" dirty="0"/>
              <a:t>Reflection and review</a:t>
            </a:r>
          </a:p>
        </p:txBody>
      </p:sp>
    </p:spTree>
    <p:extLst>
      <p:ext uri="{BB962C8B-B14F-4D97-AF65-F5344CB8AC3E}">
        <p14:creationId xmlns:p14="http://schemas.microsoft.com/office/powerpoint/2010/main" val="4230208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EAC522-EDA8-9FBC-46E4-058107508E60}"/>
              </a:ext>
            </a:extLst>
          </p:cNvPr>
          <p:cNvSpPr>
            <a:spLocks noGrp="1"/>
          </p:cNvSpPr>
          <p:nvPr>
            <p:ph type="title"/>
          </p:nvPr>
        </p:nvSpPr>
        <p:spPr>
          <a:xfrm>
            <a:off x="609600" y="660666"/>
            <a:ext cx="10972800" cy="1003205"/>
          </a:xfrm>
        </p:spPr>
        <p:txBody>
          <a:bodyPr>
            <a:normAutofit fontScale="90000"/>
          </a:bodyPr>
          <a:lstStyle/>
          <a:p>
            <a:r>
              <a:rPr lang="en-AU" dirty="0"/>
              <a:t>Developing Protocols for Collaborative Software</a:t>
            </a:r>
          </a:p>
        </p:txBody>
      </p:sp>
      <p:sp>
        <p:nvSpPr>
          <p:cNvPr id="5" name="Content Placeholder 4">
            <a:extLst>
              <a:ext uri="{FF2B5EF4-FFF2-40B4-BE49-F238E27FC236}">
                <a16:creationId xmlns:a16="http://schemas.microsoft.com/office/drawing/2014/main" id="{C8A7B611-8F2C-BA9F-89C6-EE5527B0E3E1}"/>
              </a:ext>
            </a:extLst>
          </p:cNvPr>
          <p:cNvSpPr>
            <a:spLocks noGrp="1"/>
          </p:cNvSpPr>
          <p:nvPr>
            <p:ph idx="1"/>
          </p:nvPr>
        </p:nvSpPr>
        <p:spPr>
          <a:xfrm>
            <a:off x="609600" y="2140299"/>
            <a:ext cx="10972800" cy="4388631"/>
          </a:xfrm>
        </p:spPr>
        <p:txBody>
          <a:bodyPr>
            <a:normAutofit lnSpcReduction="10000"/>
          </a:bodyPr>
          <a:lstStyle/>
          <a:p>
            <a:pPr marL="0" indent="0" algn="just">
              <a:buNone/>
            </a:pPr>
            <a:r>
              <a:rPr lang="en-US" sz="2800" dirty="0"/>
              <a:t>1. </a:t>
            </a:r>
            <a:r>
              <a:rPr lang="en-US" sz="2800" b="1" dirty="0"/>
              <a:t>Scheduled Regular Meetings: </a:t>
            </a:r>
            <a:r>
              <a:rPr lang="en-US" sz="2800" dirty="0"/>
              <a:t>Scheduling regular virtual meetings, such as video conferences or audio calls, can help keep team members connected and on track. These meetings can be used for status updates, problem-solving, and team-building.</a:t>
            </a:r>
          </a:p>
          <a:p>
            <a:pPr marL="0" indent="0" algn="just">
              <a:buNone/>
            </a:pPr>
            <a:endParaRPr lang="en-US" sz="2800" dirty="0"/>
          </a:p>
          <a:p>
            <a:pPr marL="0" indent="0" algn="just">
              <a:buNone/>
            </a:pPr>
            <a:r>
              <a:rPr lang="en-US" sz="2800" dirty="0"/>
              <a:t>2</a:t>
            </a:r>
            <a:r>
              <a:rPr lang="en-US" sz="2800" b="1" dirty="0"/>
              <a:t>. Shared Documents: </a:t>
            </a:r>
            <a:r>
              <a:rPr lang="en-US" sz="2800" dirty="0"/>
              <a:t>Utilizing shared document platforms, such as Google Docs or Microsoft Teams, can allow team members to collaborate in real-time on documents and projects. These platforms also provide a centralized location for storing and organizing documents.</a:t>
            </a:r>
            <a:endParaRPr lang="en-AU" sz="2800" dirty="0"/>
          </a:p>
        </p:txBody>
      </p:sp>
    </p:spTree>
    <p:extLst>
      <p:ext uri="{BB962C8B-B14F-4D97-AF65-F5344CB8AC3E}">
        <p14:creationId xmlns:p14="http://schemas.microsoft.com/office/powerpoint/2010/main" val="1486849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EAC522-EDA8-9FBC-46E4-058107508E60}"/>
              </a:ext>
            </a:extLst>
          </p:cNvPr>
          <p:cNvSpPr>
            <a:spLocks noGrp="1"/>
          </p:cNvSpPr>
          <p:nvPr>
            <p:ph type="title"/>
          </p:nvPr>
        </p:nvSpPr>
        <p:spPr>
          <a:xfrm>
            <a:off x="609600" y="650618"/>
            <a:ext cx="10972800" cy="1003205"/>
          </a:xfrm>
        </p:spPr>
        <p:txBody>
          <a:bodyPr>
            <a:normAutofit fontScale="90000"/>
          </a:bodyPr>
          <a:lstStyle/>
          <a:p>
            <a:r>
              <a:rPr lang="en-AU" dirty="0"/>
              <a:t>Developing Protocols for Collaborative Software</a:t>
            </a:r>
          </a:p>
        </p:txBody>
      </p:sp>
      <p:sp>
        <p:nvSpPr>
          <p:cNvPr id="5" name="Content Placeholder 4">
            <a:extLst>
              <a:ext uri="{FF2B5EF4-FFF2-40B4-BE49-F238E27FC236}">
                <a16:creationId xmlns:a16="http://schemas.microsoft.com/office/drawing/2014/main" id="{C8A7B611-8F2C-BA9F-89C6-EE5527B0E3E1}"/>
              </a:ext>
            </a:extLst>
          </p:cNvPr>
          <p:cNvSpPr>
            <a:spLocks noGrp="1"/>
          </p:cNvSpPr>
          <p:nvPr>
            <p:ph idx="1"/>
          </p:nvPr>
        </p:nvSpPr>
        <p:spPr>
          <a:xfrm>
            <a:off x="609600" y="2220686"/>
            <a:ext cx="10972800" cy="4137422"/>
          </a:xfrm>
        </p:spPr>
        <p:txBody>
          <a:bodyPr>
            <a:normAutofit fontScale="92500" lnSpcReduction="20000"/>
          </a:bodyPr>
          <a:lstStyle/>
          <a:p>
            <a:pPr marL="0" indent="0" algn="just">
              <a:buNone/>
            </a:pPr>
            <a:r>
              <a:rPr lang="en-US" b="1" dirty="0"/>
              <a:t>3. Task Management Systems: </a:t>
            </a:r>
            <a:r>
              <a:rPr lang="en-US" dirty="0"/>
              <a:t>Utilizing task management systems, such as Trello or Asana, can help keep track of individual and team tasks, deadlines, and progress. These systems can also help facilitate communication and collaboration among team members.</a:t>
            </a:r>
          </a:p>
          <a:p>
            <a:pPr marL="0" indent="0" algn="just">
              <a:buNone/>
            </a:pPr>
            <a:endParaRPr lang="en-US" dirty="0"/>
          </a:p>
          <a:p>
            <a:pPr marL="0" indent="0" algn="just">
              <a:buNone/>
            </a:pPr>
            <a:r>
              <a:rPr lang="en-US" b="1" dirty="0"/>
              <a:t>4. Communication Channels: </a:t>
            </a:r>
            <a:r>
              <a:rPr lang="en-US" dirty="0"/>
              <a:t>Establishing clear communication channels, such as instant messaging or email, can help ensure that team members are able to quickly and easily communicate with one another.</a:t>
            </a:r>
            <a:endParaRPr lang="en-AU" dirty="0"/>
          </a:p>
        </p:txBody>
      </p:sp>
    </p:spTree>
    <p:extLst>
      <p:ext uri="{BB962C8B-B14F-4D97-AF65-F5344CB8AC3E}">
        <p14:creationId xmlns:p14="http://schemas.microsoft.com/office/powerpoint/2010/main" val="4014082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EAC522-EDA8-9FBC-46E4-058107508E60}"/>
              </a:ext>
            </a:extLst>
          </p:cNvPr>
          <p:cNvSpPr>
            <a:spLocks noGrp="1"/>
          </p:cNvSpPr>
          <p:nvPr>
            <p:ph type="title"/>
          </p:nvPr>
        </p:nvSpPr>
        <p:spPr/>
        <p:txBody>
          <a:bodyPr>
            <a:normAutofit fontScale="90000"/>
          </a:bodyPr>
          <a:lstStyle/>
          <a:p>
            <a:r>
              <a:rPr lang="en-AU" dirty="0"/>
              <a:t>Developing Protocols for Collaborative Software</a:t>
            </a:r>
          </a:p>
        </p:txBody>
      </p:sp>
      <p:sp>
        <p:nvSpPr>
          <p:cNvPr id="5" name="Content Placeholder 4">
            <a:extLst>
              <a:ext uri="{FF2B5EF4-FFF2-40B4-BE49-F238E27FC236}">
                <a16:creationId xmlns:a16="http://schemas.microsoft.com/office/drawing/2014/main" id="{C8A7B611-8F2C-BA9F-89C6-EE5527B0E3E1}"/>
              </a:ext>
            </a:extLst>
          </p:cNvPr>
          <p:cNvSpPr>
            <a:spLocks noGrp="1"/>
          </p:cNvSpPr>
          <p:nvPr>
            <p:ph idx="1"/>
          </p:nvPr>
        </p:nvSpPr>
        <p:spPr>
          <a:xfrm>
            <a:off x="609600" y="2029767"/>
            <a:ext cx="10972800" cy="4328341"/>
          </a:xfrm>
        </p:spPr>
        <p:txBody>
          <a:bodyPr>
            <a:normAutofit fontScale="92500" lnSpcReduction="20000"/>
          </a:bodyPr>
          <a:lstStyle/>
          <a:p>
            <a:pPr marL="0" indent="0" algn="just">
              <a:buNone/>
            </a:pPr>
            <a:r>
              <a:rPr lang="en-US" b="1" dirty="0"/>
              <a:t>5. File Sharing: </a:t>
            </a:r>
            <a:r>
              <a:rPr lang="en-US" dirty="0"/>
              <a:t>Utilizing file sharing platforms, such as Dropbox or Google Drive, can allow team members to easily access and share files with one another.</a:t>
            </a:r>
          </a:p>
          <a:p>
            <a:pPr marL="0" indent="0" algn="just">
              <a:buNone/>
            </a:pPr>
            <a:endParaRPr lang="en-US" dirty="0"/>
          </a:p>
          <a:p>
            <a:pPr marL="0" indent="0" algn="just">
              <a:buNone/>
            </a:pPr>
            <a:r>
              <a:rPr lang="en-US" b="1" dirty="0"/>
              <a:t>6. Time Management: </a:t>
            </a:r>
            <a:r>
              <a:rPr lang="en-US" dirty="0"/>
              <a:t>Establishing time management protocols, such as setting specific work hours or using time tracking software, can help ensure that team members are able to effectively balance work and personal time.</a:t>
            </a:r>
          </a:p>
          <a:p>
            <a:pPr marL="0" indent="0">
              <a:buNone/>
            </a:pPr>
            <a:endParaRPr lang="en-US" dirty="0"/>
          </a:p>
          <a:p>
            <a:pPr marL="0" indent="0">
              <a:buNone/>
            </a:pPr>
            <a:r>
              <a:rPr lang="en-US" b="1" dirty="0"/>
              <a:t>Reflection and Review: </a:t>
            </a:r>
            <a:r>
              <a:rPr lang="en-US" dirty="0"/>
              <a:t>To be seen after the presentations</a:t>
            </a:r>
            <a:endParaRPr lang="en-AU" dirty="0"/>
          </a:p>
        </p:txBody>
      </p:sp>
    </p:spTree>
    <p:extLst>
      <p:ext uri="{BB962C8B-B14F-4D97-AF65-F5344CB8AC3E}">
        <p14:creationId xmlns:p14="http://schemas.microsoft.com/office/powerpoint/2010/main" val="2545483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EAC522-EDA8-9FBC-46E4-058107508E60}"/>
              </a:ext>
            </a:extLst>
          </p:cNvPr>
          <p:cNvSpPr>
            <a:spLocks noGrp="1"/>
          </p:cNvSpPr>
          <p:nvPr>
            <p:ph type="title"/>
          </p:nvPr>
        </p:nvSpPr>
        <p:spPr>
          <a:xfrm>
            <a:off x="609600" y="620472"/>
            <a:ext cx="10972800" cy="1003205"/>
          </a:xfrm>
        </p:spPr>
        <p:txBody>
          <a:bodyPr>
            <a:normAutofit fontScale="90000"/>
          </a:bodyPr>
          <a:lstStyle/>
          <a:p>
            <a:r>
              <a:rPr lang="en-AU" dirty="0"/>
              <a:t>Developing Protocols for Collaborative Software</a:t>
            </a:r>
          </a:p>
        </p:txBody>
      </p:sp>
      <p:sp>
        <p:nvSpPr>
          <p:cNvPr id="5" name="Content Placeholder 4">
            <a:extLst>
              <a:ext uri="{FF2B5EF4-FFF2-40B4-BE49-F238E27FC236}">
                <a16:creationId xmlns:a16="http://schemas.microsoft.com/office/drawing/2014/main" id="{C8A7B611-8F2C-BA9F-89C6-EE5527B0E3E1}"/>
              </a:ext>
            </a:extLst>
          </p:cNvPr>
          <p:cNvSpPr>
            <a:spLocks noGrp="1"/>
          </p:cNvSpPr>
          <p:nvPr>
            <p:ph idx="1"/>
          </p:nvPr>
        </p:nvSpPr>
        <p:spPr>
          <a:xfrm>
            <a:off x="609600" y="1999622"/>
            <a:ext cx="10972800" cy="4358486"/>
          </a:xfrm>
        </p:spPr>
        <p:txBody>
          <a:bodyPr>
            <a:normAutofit fontScale="85000" lnSpcReduction="20000"/>
          </a:bodyPr>
          <a:lstStyle/>
          <a:p>
            <a:pPr marL="0" indent="0" algn="just">
              <a:buNone/>
            </a:pPr>
            <a:r>
              <a:rPr lang="en-US" dirty="0"/>
              <a:t>From the list below, choose 3 criteria to build your team’s collaboration protocol around:</a:t>
            </a:r>
          </a:p>
          <a:p>
            <a:pPr marL="0" indent="0" algn="just">
              <a:buNone/>
            </a:pPr>
            <a:endParaRPr lang="en-US" dirty="0"/>
          </a:p>
          <a:p>
            <a:pPr marL="514350" indent="-514350">
              <a:buFont typeface="+mj-lt"/>
              <a:buAutoNum type="arabicPeriod"/>
            </a:pPr>
            <a:r>
              <a:rPr lang="en-US" dirty="0"/>
              <a:t>Scheduled regular meetings</a:t>
            </a:r>
          </a:p>
          <a:p>
            <a:pPr marL="514350" indent="-514350">
              <a:buFont typeface="+mj-lt"/>
              <a:buAutoNum type="arabicPeriod"/>
            </a:pPr>
            <a:r>
              <a:rPr lang="en-US" dirty="0"/>
              <a:t>Shared documents</a:t>
            </a:r>
          </a:p>
          <a:p>
            <a:pPr marL="514350" indent="-514350">
              <a:buFont typeface="+mj-lt"/>
              <a:buAutoNum type="arabicPeriod"/>
            </a:pPr>
            <a:r>
              <a:rPr lang="en-US" dirty="0"/>
              <a:t>Task management systems</a:t>
            </a:r>
          </a:p>
          <a:p>
            <a:pPr marL="514350" indent="-514350">
              <a:buFont typeface="+mj-lt"/>
              <a:buAutoNum type="arabicPeriod"/>
            </a:pPr>
            <a:r>
              <a:rPr lang="en-US" dirty="0"/>
              <a:t>Establish communication channels</a:t>
            </a:r>
          </a:p>
          <a:p>
            <a:pPr marL="514350" indent="-514350">
              <a:buFont typeface="+mj-lt"/>
              <a:buAutoNum type="arabicPeriod"/>
            </a:pPr>
            <a:r>
              <a:rPr lang="en-US" dirty="0"/>
              <a:t>File sharing</a:t>
            </a:r>
          </a:p>
          <a:p>
            <a:pPr marL="514350" indent="-514350">
              <a:buFont typeface="+mj-lt"/>
              <a:buAutoNum type="arabicPeriod"/>
            </a:pPr>
            <a:r>
              <a:rPr lang="en-US" dirty="0"/>
              <a:t>Time management</a:t>
            </a:r>
          </a:p>
          <a:p>
            <a:pPr marL="514350" indent="-514350">
              <a:buFont typeface="+mj-lt"/>
              <a:buAutoNum type="arabicPeriod"/>
            </a:pPr>
            <a:r>
              <a:rPr lang="en-US" dirty="0"/>
              <a:t>Reflection and review</a:t>
            </a:r>
          </a:p>
        </p:txBody>
      </p:sp>
    </p:spTree>
    <p:extLst>
      <p:ext uri="{BB962C8B-B14F-4D97-AF65-F5344CB8AC3E}">
        <p14:creationId xmlns:p14="http://schemas.microsoft.com/office/powerpoint/2010/main" val="351788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8A403-A944-C3BA-D38F-660EC18C1D43}"/>
              </a:ext>
            </a:extLst>
          </p:cNvPr>
          <p:cNvSpPr>
            <a:spLocks noGrp="1"/>
          </p:cNvSpPr>
          <p:nvPr>
            <p:ph type="title"/>
          </p:nvPr>
        </p:nvSpPr>
        <p:spPr/>
        <p:txBody>
          <a:bodyPr/>
          <a:lstStyle/>
          <a:p>
            <a:r>
              <a:rPr lang="en-AU" dirty="0"/>
              <a:t>Presentations</a:t>
            </a:r>
          </a:p>
        </p:txBody>
      </p:sp>
      <p:sp>
        <p:nvSpPr>
          <p:cNvPr id="5" name="Text Placeholder 4">
            <a:extLst>
              <a:ext uri="{FF2B5EF4-FFF2-40B4-BE49-F238E27FC236}">
                <a16:creationId xmlns:a16="http://schemas.microsoft.com/office/drawing/2014/main" id="{AD4EA362-BD44-17F2-1AF7-198B35B8DFB5}"/>
              </a:ext>
            </a:extLst>
          </p:cNvPr>
          <p:cNvSpPr>
            <a:spLocks noGrp="1"/>
          </p:cNvSpPr>
          <p:nvPr>
            <p:ph type="body" idx="1"/>
          </p:nvPr>
        </p:nvSpPr>
        <p:spPr/>
        <p:txBody>
          <a:bodyPr/>
          <a:lstStyle/>
          <a:p>
            <a:r>
              <a:rPr lang="en-AU" dirty="0"/>
              <a:t>Innovative Technology</a:t>
            </a:r>
          </a:p>
        </p:txBody>
      </p:sp>
    </p:spTree>
    <p:extLst>
      <p:ext uri="{BB962C8B-B14F-4D97-AF65-F5344CB8AC3E}">
        <p14:creationId xmlns:p14="http://schemas.microsoft.com/office/powerpoint/2010/main" val="3759769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8A403-A944-C3BA-D38F-660EC18C1D43}"/>
              </a:ext>
            </a:extLst>
          </p:cNvPr>
          <p:cNvSpPr>
            <a:spLocks noGrp="1"/>
          </p:cNvSpPr>
          <p:nvPr>
            <p:ph type="title"/>
          </p:nvPr>
        </p:nvSpPr>
        <p:spPr/>
        <p:txBody>
          <a:bodyPr/>
          <a:lstStyle/>
          <a:p>
            <a:r>
              <a:rPr lang="en-AU" dirty="0"/>
              <a:t>Reflection and review</a:t>
            </a:r>
          </a:p>
        </p:txBody>
      </p:sp>
      <p:sp>
        <p:nvSpPr>
          <p:cNvPr id="5" name="Text Placeholder 4">
            <a:extLst>
              <a:ext uri="{FF2B5EF4-FFF2-40B4-BE49-F238E27FC236}">
                <a16:creationId xmlns:a16="http://schemas.microsoft.com/office/drawing/2014/main" id="{AD4EA362-BD44-17F2-1AF7-198B35B8DFB5}"/>
              </a:ext>
            </a:extLst>
          </p:cNvPr>
          <p:cNvSpPr>
            <a:spLocks noGrp="1"/>
          </p:cNvSpPr>
          <p:nvPr>
            <p:ph type="body" idx="1"/>
          </p:nvPr>
        </p:nvSpPr>
        <p:spPr/>
        <p:txBody>
          <a:bodyPr/>
          <a:lstStyle/>
          <a:p>
            <a:r>
              <a:rPr lang="en-AU" dirty="0"/>
              <a:t>Innovative Technology</a:t>
            </a:r>
          </a:p>
        </p:txBody>
      </p:sp>
    </p:spTree>
    <p:extLst>
      <p:ext uri="{BB962C8B-B14F-4D97-AF65-F5344CB8AC3E}">
        <p14:creationId xmlns:p14="http://schemas.microsoft.com/office/powerpoint/2010/main" val="2279684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FD44-A275-65E4-D9C7-699F9C98CF0E}"/>
              </a:ext>
            </a:extLst>
          </p:cNvPr>
          <p:cNvSpPr>
            <a:spLocks noGrp="1"/>
          </p:cNvSpPr>
          <p:nvPr>
            <p:ph type="title"/>
          </p:nvPr>
        </p:nvSpPr>
        <p:spPr/>
        <p:txBody>
          <a:bodyPr/>
          <a:lstStyle/>
          <a:p>
            <a:r>
              <a:rPr lang="en-AU" dirty="0"/>
              <a:t>Reflection – Why is it important?</a:t>
            </a:r>
          </a:p>
        </p:txBody>
      </p:sp>
      <p:sp>
        <p:nvSpPr>
          <p:cNvPr id="3" name="Content Placeholder 2">
            <a:extLst>
              <a:ext uri="{FF2B5EF4-FFF2-40B4-BE49-F238E27FC236}">
                <a16:creationId xmlns:a16="http://schemas.microsoft.com/office/drawing/2014/main" id="{6D3788D0-81D7-37B1-14A8-070B870E3C70}"/>
              </a:ext>
            </a:extLst>
          </p:cNvPr>
          <p:cNvSpPr>
            <a:spLocks noGrp="1"/>
          </p:cNvSpPr>
          <p:nvPr>
            <p:ph idx="1"/>
          </p:nvPr>
        </p:nvSpPr>
        <p:spPr/>
        <p:txBody>
          <a:bodyPr>
            <a:normAutofit fontScale="55000" lnSpcReduction="20000"/>
          </a:bodyPr>
          <a:lstStyle/>
          <a:p>
            <a:pPr algn="just"/>
            <a:r>
              <a:rPr lang="en-US" b="1" dirty="0"/>
              <a:t>Improves presentation skills: </a:t>
            </a:r>
            <a:r>
              <a:rPr lang="en-US" dirty="0"/>
              <a:t>Reflecting on a group presentation allows students to analyze their performance and identify areas where they need improvement. This can help them develop their presentation skills and become more confident in public speaking.</a:t>
            </a:r>
          </a:p>
          <a:p>
            <a:pPr algn="just"/>
            <a:endParaRPr lang="en-US" dirty="0"/>
          </a:p>
          <a:p>
            <a:pPr algn="just"/>
            <a:r>
              <a:rPr lang="en-US" b="1" dirty="0"/>
              <a:t>Encourages teamwork and collaboration: </a:t>
            </a:r>
            <a:r>
              <a:rPr lang="en-US" dirty="0"/>
              <a:t>Group presentations require students to work together, and reflecting on the process can help students understand the strengths and weaknesses of their team and identify ways to improve their collaboration in the future.</a:t>
            </a:r>
          </a:p>
          <a:p>
            <a:pPr algn="just"/>
            <a:endParaRPr lang="en-US" dirty="0"/>
          </a:p>
          <a:p>
            <a:pPr algn="just"/>
            <a:r>
              <a:rPr lang="en-US" b="1" dirty="0"/>
              <a:t>Builds self-awareness: </a:t>
            </a:r>
            <a:r>
              <a:rPr lang="en-US" dirty="0"/>
              <a:t>Reflecting on a presentation helps students become more self-aware and recognize their own strengths and weaknesses. This self-awareness is important for personal growth and future success.</a:t>
            </a:r>
          </a:p>
          <a:p>
            <a:pPr algn="just"/>
            <a:endParaRPr lang="en-US" dirty="0"/>
          </a:p>
          <a:p>
            <a:pPr algn="just"/>
            <a:r>
              <a:rPr lang="en-US" b="1" dirty="0"/>
              <a:t>Enhances learning: </a:t>
            </a:r>
            <a:r>
              <a:rPr lang="en-US" dirty="0"/>
              <a:t>Reflecting on a presentation allows students to process and retain the information presented in a deeper way, as well as identify areas where they need additional learning or clarification.</a:t>
            </a:r>
          </a:p>
          <a:p>
            <a:pPr algn="just"/>
            <a:endParaRPr lang="en-US" dirty="0"/>
          </a:p>
          <a:p>
            <a:pPr algn="just"/>
            <a:r>
              <a:rPr lang="en-US" b="1" dirty="0"/>
              <a:t>Develops critical thinking skills: </a:t>
            </a:r>
            <a:r>
              <a:rPr lang="en-US" dirty="0"/>
              <a:t>Reflecting on a presentation requires students to analyze and evaluate their own performance and the performance of their team. This develops critical thinking skills that can be applied to other areas of their education and future careers.</a:t>
            </a:r>
            <a:endParaRPr lang="en-AU" dirty="0"/>
          </a:p>
        </p:txBody>
      </p:sp>
    </p:spTree>
    <p:extLst>
      <p:ext uri="{BB962C8B-B14F-4D97-AF65-F5344CB8AC3E}">
        <p14:creationId xmlns:p14="http://schemas.microsoft.com/office/powerpoint/2010/main" val="3548758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550370-765A-BA50-859B-905C1ECE20BE}"/>
              </a:ext>
            </a:extLst>
          </p:cNvPr>
          <p:cNvSpPr>
            <a:spLocks noGrp="1"/>
          </p:cNvSpPr>
          <p:nvPr>
            <p:ph type="title"/>
          </p:nvPr>
        </p:nvSpPr>
        <p:spPr>
          <a:xfrm>
            <a:off x="609600" y="610423"/>
            <a:ext cx="10972800" cy="1003205"/>
          </a:xfrm>
        </p:spPr>
        <p:txBody>
          <a:bodyPr/>
          <a:lstStyle/>
          <a:p>
            <a:r>
              <a:rPr lang="en-AU" dirty="0"/>
              <a:t>Reflection and Review</a:t>
            </a:r>
          </a:p>
        </p:txBody>
      </p:sp>
      <p:sp>
        <p:nvSpPr>
          <p:cNvPr id="5" name="Content Placeholder 4">
            <a:extLst>
              <a:ext uri="{FF2B5EF4-FFF2-40B4-BE49-F238E27FC236}">
                <a16:creationId xmlns:a16="http://schemas.microsoft.com/office/drawing/2014/main" id="{7B94E0E8-F909-3F91-AC77-27EE4E307CC3}"/>
              </a:ext>
            </a:extLst>
          </p:cNvPr>
          <p:cNvSpPr>
            <a:spLocks noGrp="1"/>
          </p:cNvSpPr>
          <p:nvPr>
            <p:ph idx="1"/>
          </p:nvPr>
        </p:nvSpPr>
        <p:spPr>
          <a:xfrm>
            <a:off x="609600" y="1894983"/>
            <a:ext cx="10972800" cy="4855011"/>
          </a:xfrm>
        </p:spPr>
        <p:txBody>
          <a:bodyPr numCol="2">
            <a:normAutofit lnSpcReduction="10000"/>
          </a:bodyPr>
          <a:lstStyle/>
          <a:p>
            <a:pPr algn="l">
              <a:buFont typeface="+mj-lt"/>
              <a:buAutoNum type="arabicPeriod"/>
            </a:pPr>
            <a:r>
              <a:rPr lang="en-US" sz="2000" b="1" i="0" dirty="0">
                <a:solidFill>
                  <a:srgbClr val="D1D5DB"/>
                </a:solidFill>
                <a:effectLst/>
                <a:latin typeface="Söhne"/>
              </a:rPr>
              <a:t>Introduction:</a:t>
            </a:r>
          </a:p>
          <a:p>
            <a:pPr lvl="1">
              <a:buFont typeface="Arial" panose="020B0604020202020204" pitchFamily="34" charset="0"/>
              <a:buChar char="•"/>
            </a:pPr>
            <a:r>
              <a:rPr lang="en-US" sz="1600" i="0" dirty="0">
                <a:solidFill>
                  <a:srgbClr val="D1D5DB"/>
                </a:solidFill>
                <a:effectLst/>
                <a:latin typeface="Söhne"/>
              </a:rPr>
              <a:t>Date of presentation: </a:t>
            </a:r>
          </a:p>
          <a:p>
            <a:pPr lvl="1">
              <a:buFont typeface="Arial" panose="020B0604020202020204" pitchFamily="34" charset="0"/>
              <a:buChar char="•"/>
            </a:pPr>
            <a:r>
              <a:rPr lang="en-US" sz="1600" i="0" dirty="0">
                <a:solidFill>
                  <a:srgbClr val="D1D5DB"/>
                </a:solidFill>
                <a:effectLst/>
                <a:latin typeface="Söhne"/>
              </a:rPr>
              <a:t>Group members: </a:t>
            </a:r>
          </a:p>
          <a:p>
            <a:pPr lvl="1">
              <a:buFont typeface="Arial" panose="020B0604020202020204" pitchFamily="34" charset="0"/>
              <a:buChar char="•"/>
            </a:pPr>
            <a:r>
              <a:rPr lang="en-US" sz="1600" i="0" dirty="0">
                <a:solidFill>
                  <a:srgbClr val="D1D5DB"/>
                </a:solidFill>
                <a:effectLst/>
                <a:latin typeface="Söhne"/>
              </a:rPr>
              <a:t>Topic of presentation:</a:t>
            </a:r>
          </a:p>
          <a:p>
            <a:pPr algn="l">
              <a:buFont typeface="+mj-lt"/>
              <a:buAutoNum type="arabicPeriod" startAt="2"/>
            </a:pPr>
            <a:endParaRPr lang="en-US" sz="2000" i="0" dirty="0">
              <a:solidFill>
                <a:srgbClr val="D1D5DB"/>
              </a:solidFill>
              <a:effectLst/>
              <a:latin typeface="Söhne"/>
            </a:endParaRPr>
          </a:p>
          <a:p>
            <a:pPr algn="l">
              <a:buFont typeface="+mj-lt"/>
              <a:buAutoNum type="arabicPeriod" startAt="2"/>
            </a:pPr>
            <a:r>
              <a:rPr lang="en-US" sz="2000" b="1" i="0" dirty="0">
                <a:solidFill>
                  <a:srgbClr val="D1D5DB"/>
                </a:solidFill>
                <a:effectLst/>
                <a:latin typeface="Söhne"/>
              </a:rPr>
              <a:t>Strengths of the Presentation:</a:t>
            </a:r>
          </a:p>
          <a:p>
            <a:pPr lvl="1">
              <a:buFont typeface="Arial" panose="020B0604020202020204" pitchFamily="34" charset="0"/>
              <a:buChar char="•"/>
            </a:pPr>
            <a:r>
              <a:rPr lang="en-US" sz="1600" i="0" dirty="0">
                <a:solidFill>
                  <a:srgbClr val="D1D5DB"/>
                </a:solidFill>
                <a:effectLst/>
                <a:latin typeface="Söhne"/>
              </a:rPr>
              <a:t>What did the group do well during the presentation?</a:t>
            </a:r>
          </a:p>
          <a:p>
            <a:pPr lvl="1">
              <a:buFont typeface="Arial" panose="020B0604020202020204" pitchFamily="34" charset="0"/>
              <a:buChar char="•"/>
            </a:pPr>
            <a:r>
              <a:rPr lang="en-US" sz="1600" i="0" dirty="0">
                <a:solidFill>
                  <a:srgbClr val="D1D5DB"/>
                </a:solidFill>
                <a:effectLst/>
                <a:latin typeface="Söhne"/>
              </a:rPr>
              <a:t>What aspects of the presentation stood out to you?</a:t>
            </a:r>
          </a:p>
          <a:p>
            <a:pPr algn="l">
              <a:buFont typeface="+mj-lt"/>
              <a:buAutoNum type="arabicPeriod" startAt="3"/>
            </a:pPr>
            <a:endParaRPr lang="en-US" sz="2000" i="0" dirty="0">
              <a:solidFill>
                <a:srgbClr val="D1D5DB"/>
              </a:solidFill>
              <a:effectLst/>
              <a:latin typeface="Söhne"/>
            </a:endParaRPr>
          </a:p>
          <a:p>
            <a:pPr algn="l">
              <a:buFont typeface="+mj-lt"/>
              <a:buAutoNum type="arabicPeriod" startAt="3"/>
            </a:pPr>
            <a:r>
              <a:rPr lang="en-US" sz="2000" b="1" i="0" dirty="0">
                <a:solidFill>
                  <a:srgbClr val="D1D5DB"/>
                </a:solidFill>
                <a:effectLst/>
                <a:latin typeface="Söhne"/>
              </a:rPr>
              <a:t>Areas for Improvement:</a:t>
            </a:r>
          </a:p>
          <a:p>
            <a:pPr lvl="1">
              <a:buFont typeface="Arial" panose="020B0604020202020204" pitchFamily="34" charset="0"/>
              <a:buChar char="•"/>
            </a:pPr>
            <a:r>
              <a:rPr lang="en-US" sz="1600" i="0" dirty="0">
                <a:solidFill>
                  <a:srgbClr val="D1D5DB"/>
                </a:solidFill>
                <a:effectLst/>
                <a:latin typeface="Söhne"/>
              </a:rPr>
              <a:t>What could the group have done better during the presentation?</a:t>
            </a:r>
          </a:p>
          <a:p>
            <a:pPr lvl="1">
              <a:buFont typeface="Arial" panose="020B0604020202020204" pitchFamily="34" charset="0"/>
              <a:buChar char="•"/>
            </a:pPr>
            <a:r>
              <a:rPr lang="en-US" sz="1600" i="0" dirty="0">
                <a:solidFill>
                  <a:srgbClr val="D1D5DB"/>
                </a:solidFill>
                <a:effectLst/>
                <a:latin typeface="Söhne"/>
              </a:rPr>
              <a:t>What areas of the presentation need improvement?</a:t>
            </a:r>
          </a:p>
          <a:p>
            <a:pPr algn="l">
              <a:buFont typeface="+mj-lt"/>
              <a:buAutoNum type="arabicPeriod" startAt="4"/>
            </a:pPr>
            <a:endParaRPr lang="en-US" sz="2000" i="0" dirty="0">
              <a:solidFill>
                <a:srgbClr val="D1D5DB"/>
              </a:solidFill>
              <a:effectLst/>
              <a:latin typeface="Söhne"/>
            </a:endParaRPr>
          </a:p>
          <a:p>
            <a:pPr algn="l">
              <a:buFont typeface="+mj-lt"/>
              <a:buAutoNum type="arabicPeriod" startAt="4"/>
            </a:pPr>
            <a:endParaRPr lang="en-US" sz="2000" dirty="0">
              <a:solidFill>
                <a:srgbClr val="D1D5DB"/>
              </a:solidFill>
              <a:latin typeface="Söhne"/>
            </a:endParaRPr>
          </a:p>
          <a:p>
            <a:pPr marL="0" indent="0" algn="l">
              <a:buNone/>
            </a:pPr>
            <a:endParaRPr lang="en-US" sz="2000" i="0" dirty="0">
              <a:solidFill>
                <a:srgbClr val="D1D5DB"/>
              </a:solidFill>
              <a:effectLst/>
              <a:latin typeface="Söhne"/>
            </a:endParaRPr>
          </a:p>
          <a:p>
            <a:pPr algn="l">
              <a:buFont typeface="+mj-lt"/>
              <a:buAutoNum type="arabicPeriod" startAt="4"/>
            </a:pPr>
            <a:r>
              <a:rPr lang="en-US" sz="2000" b="1" i="0" dirty="0">
                <a:solidFill>
                  <a:srgbClr val="D1D5DB"/>
                </a:solidFill>
                <a:effectLst/>
                <a:latin typeface="Söhne"/>
              </a:rPr>
              <a:t>Personal Contributions:</a:t>
            </a:r>
          </a:p>
          <a:p>
            <a:pPr lvl="1">
              <a:buFont typeface="Arial" panose="020B0604020202020204" pitchFamily="34" charset="0"/>
              <a:buChar char="•"/>
            </a:pPr>
            <a:r>
              <a:rPr lang="en-US" sz="1600" b="0" i="0" dirty="0">
                <a:solidFill>
                  <a:srgbClr val="D1D5DB"/>
                </a:solidFill>
                <a:effectLst/>
                <a:latin typeface="Söhne"/>
              </a:rPr>
              <a:t>What role did you play in the presentation?</a:t>
            </a:r>
          </a:p>
          <a:p>
            <a:pPr lvl="1">
              <a:buFont typeface="Arial" panose="020B0604020202020204" pitchFamily="34" charset="0"/>
              <a:buChar char="•"/>
            </a:pPr>
            <a:r>
              <a:rPr lang="en-US" sz="1600" b="0" i="0" dirty="0">
                <a:solidFill>
                  <a:srgbClr val="D1D5DB"/>
                </a:solidFill>
                <a:effectLst/>
                <a:latin typeface="Söhne"/>
              </a:rPr>
              <a:t>What did you contribute to the presentation?</a:t>
            </a:r>
          </a:p>
          <a:p>
            <a:pPr lvl="1">
              <a:buFont typeface="Arial" panose="020B0604020202020204" pitchFamily="34" charset="0"/>
              <a:buChar char="•"/>
            </a:pPr>
            <a:r>
              <a:rPr lang="en-US" sz="1600" b="0" i="0" dirty="0">
                <a:solidFill>
                  <a:srgbClr val="D1D5DB"/>
                </a:solidFill>
                <a:effectLst/>
                <a:latin typeface="Söhne"/>
              </a:rPr>
              <a:t>How well did you fulfill your role in the presentation?</a:t>
            </a:r>
          </a:p>
          <a:p>
            <a:pPr algn="l">
              <a:buFont typeface="+mj-lt"/>
              <a:buAutoNum type="arabicPeriod" startAt="5"/>
            </a:pPr>
            <a:endParaRPr lang="en-US" sz="2000" b="0" i="0" dirty="0">
              <a:solidFill>
                <a:srgbClr val="D1D5DB"/>
              </a:solidFill>
              <a:effectLst/>
              <a:latin typeface="Söhne"/>
            </a:endParaRPr>
          </a:p>
          <a:p>
            <a:pPr algn="l">
              <a:buFont typeface="+mj-lt"/>
              <a:buAutoNum type="arabicPeriod" startAt="5"/>
            </a:pPr>
            <a:r>
              <a:rPr lang="en-US" sz="2000" b="1" i="0" dirty="0">
                <a:solidFill>
                  <a:srgbClr val="D1D5DB"/>
                </a:solidFill>
                <a:effectLst/>
                <a:latin typeface="Söhne"/>
              </a:rPr>
              <a:t>Collaboration:</a:t>
            </a:r>
          </a:p>
          <a:p>
            <a:pPr lvl="1">
              <a:buFont typeface="Arial" panose="020B0604020202020204" pitchFamily="34" charset="0"/>
              <a:buChar char="•"/>
            </a:pPr>
            <a:r>
              <a:rPr lang="en-US" sz="1600" b="0" i="0" dirty="0">
                <a:solidFill>
                  <a:srgbClr val="D1D5DB"/>
                </a:solidFill>
                <a:effectLst/>
                <a:latin typeface="Söhne"/>
              </a:rPr>
              <a:t>How well did the group work together during the presentation?</a:t>
            </a:r>
          </a:p>
          <a:p>
            <a:pPr lvl="1">
              <a:buFont typeface="Arial" panose="020B0604020202020204" pitchFamily="34" charset="0"/>
              <a:buChar char="•"/>
            </a:pPr>
            <a:r>
              <a:rPr lang="en-US" sz="1600" b="0" i="0" dirty="0">
                <a:solidFill>
                  <a:srgbClr val="D1D5DB"/>
                </a:solidFill>
                <a:effectLst/>
                <a:latin typeface="Söhne"/>
              </a:rPr>
              <a:t>Was there good communication and teamwork among group members?</a:t>
            </a:r>
          </a:p>
          <a:p>
            <a:pPr algn="l">
              <a:buFont typeface="+mj-lt"/>
              <a:buAutoNum type="arabicPeriod" startAt="6"/>
            </a:pPr>
            <a:endParaRPr lang="en-US" sz="2000" b="0" i="0" dirty="0">
              <a:solidFill>
                <a:srgbClr val="D1D5DB"/>
              </a:solidFill>
              <a:effectLst/>
              <a:latin typeface="Söhne"/>
            </a:endParaRPr>
          </a:p>
          <a:p>
            <a:pPr algn="l">
              <a:buFont typeface="+mj-lt"/>
              <a:buAutoNum type="arabicPeriod" startAt="6"/>
            </a:pPr>
            <a:r>
              <a:rPr lang="en-US" sz="2000" b="1" i="0" dirty="0">
                <a:solidFill>
                  <a:srgbClr val="D1D5DB"/>
                </a:solidFill>
                <a:effectLst/>
                <a:latin typeface="Söhne"/>
              </a:rPr>
              <a:t>Final Thoughts:</a:t>
            </a:r>
          </a:p>
          <a:p>
            <a:pPr lvl="1">
              <a:buFont typeface="Arial" panose="020B0604020202020204" pitchFamily="34" charset="0"/>
              <a:buChar char="•"/>
            </a:pPr>
            <a:r>
              <a:rPr lang="en-US" sz="1600" b="0" i="0" dirty="0">
                <a:solidFill>
                  <a:srgbClr val="D1D5DB"/>
                </a:solidFill>
                <a:effectLst/>
                <a:latin typeface="Söhne"/>
              </a:rPr>
              <a:t>What did you learn from the presentation experience?</a:t>
            </a:r>
          </a:p>
          <a:p>
            <a:pPr lvl="1">
              <a:buFont typeface="Arial" panose="020B0604020202020204" pitchFamily="34" charset="0"/>
              <a:buChar char="•"/>
            </a:pPr>
            <a:r>
              <a:rPr lang="en-US" sz="1600" b="0" i="0" dirty="0">
                <a:solidFill>
                  <a:srgbClr val="D1D5DB"/>
                </a:solidFill>
                <a:effectLst/>
                <a:latin typeface="Söhne"/>
              </a:rPr>
              <a:t>How will you apply what you learned in future presentations?</a:t>
            </a:r>
          </a:p>
        </p:txBody>
      </p:sp>
    </p:spTree>
    <p:extLst>
      <p:ext uri="{BB962C8B-B14F-4D97-AF65-F5344CB8AC3E}">
        <p14:creationId xmlns:p14="http://schemas.microsoft.com/office/powerpoint/2010/main" val="15098652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5.14.potx" id="{65AE90C9-1F4F-4671-A90D-218C982486A1}" vid="{C1F87A47-8314-4C75-8707-71F446DE8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5E654056D58A47AA1AB158F7447227" ma:contentTypeVersion="13" ma:contentTypeDescription="Create a new document." ma:contentTypeScope="" ma:versionID="6a73135bdeb2a6025ed71a78c35e1493">
  <xsd:schema xmlns:xsd="http://www.w3.org/2001/XMLSchema" xmlns:xs="http://www.w3.org/2001/XMLSchema" xmlns:p="http://schemas.microsoft.com/office/2006/metadata/properties" xmlns:ns2="a5d4b606-e216-4a12-b5e0-256bbcdf3e40" xmlns:ns3="d30896e8-62f2-4107-a799-a577dc6441e1" targetNamespace="http://schemas.microsoft.com/office/2006/metadata/properties" ma:root="true" ma:fieldsID="6d487abba588268ce0728dd40265c972" ns2:_="" ns3:_="">
    <xsd:import namespace="a5d4b606-e216-4a12-b5e0-256bbcdf3e40"/>
    <xsd:import namespace="d30896e8-62f2-4107-a799-a577dc6441e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4b606-e216-4a12-b5e0-256bbcdf3e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0896e8-62f2-4107-a799-a577dc6441e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9CE8C3-CD74-44D7-9A23-34EAFAD8A7AF}">
  <ds:schemaRefs>
    <ds:schemaRef ds:uri="a5d4b606-e216-4a12-b5e0-256bbcdf3e40"/>
    <ds:schemaRef ds:uri="d30896e8-62f2-4107-a799-a577dc6441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F79D9B-5A67-492D-BB4F-F3913BAD9421}">
  <ds:schemaRefs>
    <ds:schemaRef ds:uri="http://schemas.microsoft.com/office/2006/metadata/properties"/>
    <ds:schemaRef ds:uri="a5d4b606-e216-4a12-b5e0-256bbcdf3e40"/>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d30896e8-62f2-4107-a799-a577dc6441e1"/>
    <ds:schemaRef ds:uri="http://www.w3.org/XML/1998/namespace"/>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9412</TotalTime>
  <Words>2632</Words>
  <Application>Microsoft Macintosh PowerPoint</Application>
  <PresentationFormat>Widescreen</PresentationFormat>
  <Paragraphs>219</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Century Gothic</vt:lpstr>
      <vt:lpstr>Söhne</vt:lpstr>
      <vt:lpstr>Office Theme</vt:lpstr>
      <vt:lpstr>Innovation Cluster </vt:lpstr>
      <vt:lpstr>Innovation Cluster/Project</vt:lpstr>
      <vt:lpstr>Overview</vt:lpstr>
      <vt:lpstr>Laws and regulations</vt:lpstr>
      <vt:lpstr>Collaborative Tools</vt:lpstr>
      <vt:lpstr>Data Privacy Laws</vt:lpstr>
      <vt:lpstr>Data Privacy Laws</vt:lpstr>
      <vt:lpstr>Data Privacy Laws</vt:lpstr>
      <vt:lpstr>Data Privacy Laws</vt:lpstr>
      <vt:lpstr>Intellectual Property Laws</vt:lpstr>
      <vt:lpstr>Intellectual Property Laws</vt:lpstr>
      <vt:lpstr>Intellectual Property Laws</vt:lpstr>
      <vt:lpstr>Intellectual Property Laws</vt:lpstr>
      <vt:lpstr>Accessibility Laws</vt:lpstr>
      <vt:lpstr>Accessibility Laws</vt:lpstr>
      <vt:lpstr>Accessibility Laws</vt:lpstr>
      <vt:lpstr>Accessibility Laws</vt:lpstr>
      <vt:lpstr>Cybersecurity Laws</vt:lpstr>
      <vt:lpstr>Cybersecurity Laws</vt:lpstr>
      <vt:lpstr>Cybersecurity Laws</vt:lpstr>
      <vt:lpstr>Cybersecurity Laws</vt:lpstr>
      <vt:lpstr>Company Policies</vt:lpstr>
      <vt:lpstr>Company Policies Governing Collaborative Software</vt:lpstr>
      <vt:lpstr>Company Policies Governing Collaborative Software</vt:lpstr>
      <vt:lpstr>Company Policies Governing Collaborative Software</vt:lpstr>
      <vt:lpstr>Company Policies Governing Collaborative Software</vt:lpstr>
      <vt:lpstr>Company Policies Governing Collaborative Software</vt:lpstr>
      <vt:lpstr>Best Practice and protocols</vt:lpstr>
      <vt:lpstr>Developing Protocols for Collaborative Software</vt:lpstr>
      <vt:lpstr>Developing Protocols for Collaborative Software</vt:lpstr>
      <vt:lpstr>Developing Protocols for Collaborative Software</vt:lpstr>
      <vt:lpstr>Developing Protocols for Collaborative Software</vt:lpstr>
      <vt:lpstr>Developing Protocols for Collaborative Software</vt:lpstr>
      <vt:lpstr>Presentations</vt:lpstr>
      <vt:lpstr>Reflection and review</vt:lpstr>
      <vt:lpstr>Reflection – Why is it important?</vt:lpstr>
      <vt:lpstr>Reflection and Review</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Adding JetBrains CLI Scripts to Laragon</dc:title>
  <dc:subject>Powerpoint presentation template (G076C)</dc:subject>
  <dc:creator>Adrian Gould</dc:creator>
  <cp:keywords>HD 1920x1080 powerpoint presentation template</cp:keywords>
  <dc:description/>
  <cp:lastModifiedBy>German Carvajal Castiblanco</cp:lastModifiedBy>
  <cp:revision>34</cp:revision>
  <cp:lastPrinted>2020-09-29T02:41:13Z</cp:lastPrinted>
  <dcterms:created xsi:type="dcterms:W3CDTF">2020-06-09T02:13:16Z</dcterms:created>
  <dcterms:modified xsi:type="dcterms:W3CDTF">2024-07-29T01:06:09Z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0x0101002E5E654056D58A47AA1AB158F7447227</vt:lpwstr>
  </property>
  <property fmtid="{D5CDD505-2E9C-101B-9397-08002B2CF9AE}" pid="3" name="MSIP_Label_f3ac7e5b-5da2-46c7-8677-8a6b50f7d886_Enabled">
    <vt:lpwstr>true</vt:lpwstr>
  </property>
  <property fmtid="{D5CDD505-2E9C-101B-9397-08002B2CF9AE}" pid="4" name="MSIP_Label_f3ac7e5b-5da2-46c7-8677-8a6b50f7d886_SetDate">
    <vt:lpwstr>2024-07-29T01:06:09Z</vt:lpwstr>
  </property>
  <property fmtid="{D5CDD505-2E9C-101B-9397-08002B2CF9AE}" pid="5" name="MSIP_Label_f3ac7e5b-5da2-46c7-8677-8a6b50f7d886_Method">
    <vt:lpwstr>Standard</vt:lpwstr>
  </property>
  <property fmtid="{D5CDD505-2E9C-101B-9397-08002B2CF9AE}" pid="6" name="MSIP_Label_f3ac7e5b-5da2-46c7-8677-8a6b50f7d886_Name">
    <vt:lpwstr>Official</vt:lpwstr>
  </property>
  <property fmtid="{D5CDD505-2E9C-101B-9397-08002B2CF9AE}" pid="7" name="MSIP_Label_f3ac7e5b-5da2-46c7-8677-8a6b50f7d886_SiteId">
    <vt:lpwstr>218881e8-07ad-4142-87d7-f6b90d17009b</vt:lpwstr>
  </property>
  <property fmtid="{D5CDD505-2E9C-101B-9397-08002B2CF9AE}" pid="8" name="MSIP_Label_f3ac7e5b-5da2-46c7-8677-8a6b50f7d886_ActionId">
    <vt:lpwstr>9534cf36-070f-4313-ae55-e3eca90f14ed</vt:lpwstr>
  </property>
  <property fmtid="{D5CDD505-2E9C-101B-9397-08002B2CF9AE}" pid="9" name="MSIP_Label_f3ac7e5b-5da2-46c7-8677-8a6b50f7d886_ContentBits">
    <vt:lpwstr>1</vt:lpwstr>
  </property>
  <property fmtid="{D5CDD505-2E9C-101B-9397-08002B2CF9AE}" pid="10" name="ClassificationContentMarkingHeaderLocations">
    <vt:lpwstr>Office Theme:7</vt:lpwstr>
  </property>
  <property fmtid="{D5CDD505-2E9C-101B-9397-08002B2CF9AE}" pid="11" name="ClassificationContentMarkingHeaderText">
    <vt:lpwstr>OFFICIAL</vt:lpwstr>
  </property>
</Properties>
</file>